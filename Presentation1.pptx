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63" r:id="rId5"/>
    <p:sldId id="262" r:id="rId6"/>
    <p:sldId id="258" r:id="rId7"/>
    <p:sldId id="259"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DD83-0858-74EB-614D-72FCE2FD6C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A06E76-DC12-1DD2-CE3F-26C92BCA7C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C63D9D-D635-00D2-3BA7-38499E31CE28}"/>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5" name="Footer Placeholder 4">
            <a:extLst>
              <a:ext uri="{FF2B5EF4-FFF2-40B4-BE49-F238E27FC236}">
                <a16:creationId xmlns:a16="http://schemas.microsoft.com/office/drawing/2014/main" id="{2F469A70-EE7A-51CD-4EA8-60A02A74ED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3ADAED-8C2A-64DC-BAC9-8F051CCA881A}"/>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887843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F44C2-4B2D-1988-F261-B47ED2F809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5D158B-3599-04F6-9932-918E235344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5D2BE8-0A46-30ED-6324-10CE6245D16D}"/>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5" name="Footer Placeholder 4">
            <a:extLst>
              <a:ext uri="{FF2B5EF4-FFF2-40B4-BE49-F238E27FC236}">
                <a16:creationId xmlns:a16="http://schemas.microsoft.com/office/drawing/2014/main" id="{71CF1B0C-A0DA-96F4-4076-F10EE90280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13E9AF-9B3F-A14F-CE16-6AA38DFEDB5E}"/>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3620749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4FDBA-AE52-5973-541F-130864AD08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95D83C-B89F-0AB5-4D24-2983C5F447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9447B9-B686-333D-6293-B72DB77961F6}"/>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5" name="Footer Placeholder 4">
            <a:extLst>
              <a:ext uri="{FF2B5EF4-FFF2-40B4-BE49-F238E27FC236}">
                <a16:creationId xmlns:a16="http://schemas.microsoft.com/office/drawing/2014/main" id="{54BA133D-FDD0-E4D9-C891-02B18BAA87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DE1AB-9A76-9D70-7A59-B6FEA1823976}"/>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2987108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666C1-ADC8-B5C6-D6C0-67F6490BD7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9EE48F-D554-FC2D-A181-E25D364ADE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B78570-C2B2-CB12-7C33-67CE36FFAE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F1F9990-5CA4-0AD1-B32A-577228754F26}"/>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6" name="Footer Placeholder 5">
            <a:extLst>
              <a:ext uri="{FF2B5EF4-FFF2-40B4-BE49-F238E27FC236}">
                <a16:creationId xmlns:a16="http://schemas.microsoft.com/office/drawing/2014/main" id="{DCF2C2F7-99BA-D09D-B200-84CBEC368F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988379-6140-7601-1A36-5A3D57B74E76}"/>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457886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DFE2-E2CD-114F-DA5F-8936D60A83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31A66C-D11D-7E56-82AD-25F61DF8A1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47289C-ECE9-7237-A492-1ED55DD638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BE76C-78F9-8033-C968-CA0CD9F86A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3FAE40-58E9-94C3-084C-10BEBC74D0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38D7E2-A784-0E37-7275-7609BC0309FF}"/>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8" name="Footer Placeholder 7">
            <a:extLst>
              <a:ext uri="{FF2B5EF4-FFF2-40B4-BE49-F238E27FC236}">
                <a16:creationId xmlns:a16="http://schemas.microsoft.com/office/drawing/2014/main" id="{CA4BD9E8-D6AE-FCA4-3E4B-3EF4C721DC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D00AEF-BFCF-79CA-3523-C3278BD81506}"/>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1121390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4481A-9848-B08B-56CB-DBE2DBE883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C481EA-ED3B-D56D-93BB-B090AE024256}"/>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4" name="Footer Placeholder 3">
            <a:extLst>
              <a:ext uri="{FF2B5EF4-FFF2-40B4-BE49-F238E27FC236}">
                <a16:creationId xmlns:a16="http://schemas.microsoft.com/office/drawing/2014/main" id="{A1FCB458-8D70-7A66-4F83-DC84705ED7F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7B339A-0678-45E5-C487-CE380612DEC6}"/>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399622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4A4DA3-313D-2154-B8CB-1BD4667D55A5}"/>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3" name="Footer Placeholder 2">
            <a:extLst>
              <a:ext uri="{FF2B5EF4-FFF2-40B4-BE49-F238E27FC236}">
                <a16:creationId xmlns:a16="http://schemas.microsoft.com/office/drawing/2014/main" id="{6EEACDBD-69DD-6023-1E38-BC91E0E3A24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900ADC-5D84-8D34-7671-E81D8AD9C3E6}"/>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196652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8D21E-BBA9-ADA2-F5FE-48A55D605A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609D9D-EEB0-86B8-4CD2-F4FEEE12EE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2103769-3778-45DA-EAF5-951EF92F2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EE48A4-A490-E4B6-FBC3-90CB1DC3939C}"/>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6" name="Footer Placeholder 5">
            <a:extLst>
              <a:ext uri="{FF2B5EF4-FFF2-40B4-BE49-F238E27FC236}">
                <a16:creationId xmlns:a16="http://schemas.microsoft.com/office/drawing/2014/main" id="{AE0810B2-3721-BCD5-A9BC-FFB694E74E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91AFDD-51D4-325A-66F0-F6D0C2E73346}"/>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203960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556DF-160A-832C-080D-53DAE8B5D1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6AEC68-8806-02F4-4D02-EA68998358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67A360-1DC6-D589-A82B-2EF3847ADD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9CC2C8-05CF-C66D-7307-8E6EEF7E0E31}"/>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6" name="Footer Placeholder 5">
            <a:extLst>
              <a:ext uri="{FF2B5EF4-FFF2-40B4-BE49-F238E27FC236}">
                <a16:creationId xmlns:a16="http://schemas.microsoft.com/office/drawing/2014/main" id="{B8DD572F-6896-68D6-6D13-283E5AF6E4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6E856B-CD78-4EDB-A8D2-39015F5624C6}"/>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2786602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DD607-54A2-3F3F-A8C5-AA72B8DB4A2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B61B66-E44A-02BE-3B09-93F4ACDD0E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7EE174-45DA-2768-7068-DA9E58589499}"/>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5" name="Footer Placeholder 4">
            <a:extLst>
              <a:ext uri="{FF2B5EF4-FFF2-40B4-BE49-F238E27FC236}">
                <a16:creationId xmlns:a16="http://schemas.microsoft.com/office/drawing/2014/main" id="{77025CD8-1C81-CEC9-EB90-E3C1FA4B41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8F479D-75F8-3865-9ACF-423DB5355D84}"/>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32678433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F73E41-02F4-A8A2-E61A-C036ACF1B8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AD940B-6276-4A0C-B6E7-C80276824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93B04F-4257-4D47-4B6A-F5064265811A}"/>
              </a:ext>
            </a:extLst>
          </p:cNvPr>
          <p:cNvSpPr>
            <a:spLocks noGrp="1"/>
          </p:cNvSpPr>
          <p:nvPr>
            <p:ph type="dt" sz="half" idx="10"/>
          </p:nvPr>
        </p:nvSpPr>
        <p:spPr/>
        <p:txBody>
          <a:bodyPr/>
          <a:lstStyle/>
          <a:p>
            <a:fld id="{6AB29C92-8EAA-4A24-9823-A1DB8740EACD}" type="datetimeFigureOut">
              <a:rPr lang="en-IN" smtClean="0"/>
              <a:t>12-10-2025</a:t>
            </a:fld>
            <a:endParaRPr lang="en-IN"/>
          </a:p>
        </p:txBody>
      </p:sp>
      <p:sp>
        <p:nvSpPr>
          <p:cNvPr id="5" name="Footer Placeholder 4">
            <a:extLst>
              <a:ext uri="{FF2B5EF4-FFF2-40B4-BE49-F238E27FC236}">
                <a16:creationId xmlns:a16="http://schemas.microsoft.com/office/drawing/2014/main" id="{252B8EC5-B591-75BC-CD6D-263219FE5C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099BDC-8628-B3A1-177E-828DD6CF8914}"/>
              </a:ext>
            </a:extLst>
          </p:cNvPr>
          <p:cNvSpPr>
            <a:spLocks noGrp="1"/>
          </p:cNvSpPr>
          <p:nvPr>
            <p:ph type="sldNum" sz="quarter" idx="12"/>
          </p:nvPr>
        </p:nvSpPr>
        <p:spPr/>
        <p:txBody>
          <a:bodyPr/>
          <a:lstStyle/>
          <a:p>
            <a:fld id="{A7553E9D-179E-41AF-8BA8-FFBC486D86A9}" type="slidenum">
              <a:rPr lang="en-IN" smtClean="0"/>
              <a:t>‹#›</a:t>
            </a:fld>
            <a:endParaRPr lang="en-IN"/>
          </a:p>
        </p:txBody>
      </p:sp>
    </p:spTree>
    <p:extLst>
      <p:ext uri="{BB962C8B-B14F-4D97-AF65-F5344CB8AC3E}">
        <p14:creationId xmlns:p14="http://schemas.microsoft.com/office/powerpoint/2010/main" val="3625556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DDB581-CF1F-1C81-6F4A-E1B993F238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91E59A-4BE9-7130-41DA-AB12548661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C34357-168F-F84A-D581-C8E6C42A50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B29C92-8EAA-4A24-9823-A1DB8740EACD}" type="datetimeFigureOut">
              <a:rPr lang="en-IN" smtClean="0"/>
              <a:t>12-10-2025</a:t>
            </a:fld>
            <a:endParaRPr lang="en-IN"/>
          </a:p>
        </p:txBody>
      </p:sp>
      <p:sp>
        <p:nvSpPr>
          <p:cNvPr id="5" name="Footer Placeholder 4">
            <a:extLst>
              <a:ext uri="{FF2B5EF4-FFF2-40B4-BE49-F238E27FC236}">
                <a16:creationId xmlns:a16="http://schemas.microsoft.com/office/drawing/2014/main" id="{018207E0-CDFB-01B9-4194-0541D71F40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246E89A-8DCA-118E-A707-93EFFE173A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553E9D-179E-41AF-8BA8-FFBC486D86A9}" type="slidenum">
              <a:rPr lang="en-IN" smtClean="0"/>
              <a:t>‹#›</a:t>
            </a:fld>
            <a:endParaRPr lang="en-IN"/>
          </a:p>
        </p:txBody>
      </p:sp>
    </p:spTree>
    <p:extLst>
      <p:ext uri="{BB962C8B-B14F-4D97-AF65-F5344CB8AC3E}">
        <p14:creationId xmlns:p14="http://schemas.microsoft.com/office/powerpoint/2010/main" val="4266588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image" Target="../media/image15.jpg"/><Relationship Id="rId7" Type="http://schemas.openxmlformats.org/officeDocument/2006/relationships/image" Target="../media/image19.jp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tandfonline.com/doi/full/10.1080/23288604.2024.2392290?utm_source=chatgpt.com" TargetMode="External"/><Relationship Id="rId2" Type="http://schemas.openxmlformats.org/officeDocument/2006/relationships/hyperlink" Target="https://abdm.gov.in/?utm_source=chatgpt.com" TargetMode="External"/><Relationship Id="rId1" Type="http://schemas.openxmlformats.org/officeDocument/2006/relationships/slideLayout" Target="../slideLayouts/slideLayout2.xml"/><Relationship Id="rId4" Type="http://schemas.openxmlformats.org/officeDocument/2006/relationships/hyperlink" Target="https://pmc.ncbi.nlm.nih.gov/articles/PMC10064942/?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CFD1C4-C9D1-FA7D-073C-DCE0434A4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6950" y="1474236"/>
            <a:ext cx="3741576" cy="3741576"/>
          </a:xfrm>
          <a:prstGeom prst="rect">
            <a:avLst/>
          </a:prstGeom>
        </p:spPr>
      </p:pic>
      <p:sp>
        <p:nvSpPr>
          <p:cNvPr id="4" name="TextBox 3">
            <a:extLst>
              <a:ext uri="{FF2B5EF4-FFF2-40B4-BE49-F238E27FC236}">
                <a16:creationId xmlns:a16="http://schemas.microsoft.com/office/drawing/2014/main" id="{BC6A0356-D128-D41A-7460-42D36B35C658}"/>
              </a:ext>
            </a:extLst>
          </p:cNvPr>
          <p:cNvSpPr txBox="1"/>
          <p:nvPr/>
        </p:nvSpPr>
        <p:spPr>
          <a:xfrm>
            <a:off x="492968" y="1698171"/>
            <a:ext cx="6449008" cy="4093428"/>
          </a:xfrm>
          <a:prstGeom prst="rect">
            <a:avLst/>
          </a:prstGeom>
          <a:noFill/>
        </p:spPr>
        <p:txBody>
          <a:bodyPr wrap="square" rtlCol="0">
            <a:spAutoFit/>
          </a:bodyPr>
          <a:lstStyle/>
          <a:p>
            <a:pPr marL="285750" indent="-285750" algn="just">
              <a:lnSpc>
                <a:spcPct val="200000"/>
              </a:lnSpc>
              <a:buFont typeface="Arial" panose="020B0604020202020204" pitchFamily="34" charset="0"/>
              <a:buChar char="•"/>
            </a:pPr>
            <a:r>
              <a:rPr lang="en-US" sz="2000" b="1" dirty="0">
                <a:latin typeface="Arial"/>
                <a:cs typeface="Arial"/>
              </a:rPr>
              <a:t>Problem Statement Title – EZ Reports</a:t>
            </a:r>
          </a:p>
          <a:p>
            <a:pPr marL="285750" indent="-285750" algn="just">
              <a:lnSpc>
                <a:spcPct val="200000"/>
              </a:lnSpc>
              <a:buFont typeface="Arial" panose="020B0604020202020204" pitchFamily="34" charset="0"/>
              <a:buChar char="•"/>
            </a:pPr>
            <a:r>
              <a:rPr lang="en-US" sz="2000" dirty="0"/>
              <a:t>Decoding Health Reports for Everyone</a:t>
            </a:r>
            <a:r>
              <a:rPr lang="en-US" sz="2000" b="1" dirty="0">
                <a:latin typeface="Arial"/>
                <a:cs typeface="Arial"/>
              </a:rPr>
              <a:t> </a:t>
            </a:r>
            <a:endParaRPr lang="en-US" sz="2000" b="1" dirty="0">
              <a:latin typeface="Arial" panose="020B06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000" b="1" dirty="0">
                <a:latin typeface="Arial"/>
                <a:cs typeface="Arial"/>
              </a:rPr>
              <a:t>Theme – </a:t>
            </a:r>
            <a:r>
              <a:rPr lang="en-US" sz="2000" dirty="0">
                <a:latin typeface="Arial"/>
                <a:cs typeface="Arial"/>
              </a:rPr>
              <a:t>Health care</a:t>
            </a:r>
          </a:p>
          <a:p>
            <a:pPr marL="285750" indent="-285750" algn="just">
              <a:lnSpc>
                <a:spcPct val="200000"/>
              </a:lnSpc>
              <a:buFont typeface="Arial" panose="020B0604020202020204" pitchFamily="34" charset="0"/>
              <a:buChar char="•"/>
            </a:pPr>
            <a:r>
              <a:rPr lang="en-US" sz="2000" b="1" dirty="0">
                <a:latin typeface="Arial"/>
                <a:cs typeface="Arial"/>
              </a:rPr>
              <a:t>Team Name - </a:t>
            </a:r>
            <a:r>
              <a:rPr lang="en-US" sz="2000" dirty="0">
                <a:latin typeface="Arial"/>
                <a:cs typeface="Arial"/>
              </a:rPr>
              <a:t>Nehru</a:t>
            </a:r>
          </a:p>
          <a:p>
            <a:pPr marL="285750" indent="-285750" algn="just">
              <a:lnSpc>
                <a:spcPct val="200000"/>
              </a:lnSpc>
              <a:buFont typeface="Arial" panose="020B0604020202020204" pitchFamily="34" charset="0"/>
              <a:buChar char="•"/>
            </a:pPr>
            <a:r>
              <a:rPr lang="en-US" sz="2000" b="1" dirty="0">
                <a:latin typeface="Arial"/>
                <a:cs typeface="Arial"/>
              </a:rPr>
              <a:t>Team members –  </a:t>
            </a:r>
            <a:r>
              <a:rPr lang="en-US" sz="2000" dirty="0">
                <a:latin typeface="Arial"/>
                <a:cs typeface="Arial"/>
              </a:rPr>
              <a:t>L . Prasanna</a:t>
            </a:r>
            <a:endParaRPr lang="en-IN" sz="2000" dirty="0">
              <a:latin typeface="Arial" panose="020B0604020202020204" pitchFamily="34" charset="0"/>
              <a:cs typeface="Arial" panose="020B0604020202020204" pitchFamily="34" charset="0"/>
            </a:endParaRPr>
          </a:p>
          <a:p>
            <a:r>
              <a:rPr lang="en-IN" sz="2000" dirty="0"/>
              <a:t>                                           M . Akhil Reddy</a:t>
            </a:r>
          </a:p>
          <a:p>
            <a:r>
              <a:rPr lang="en-IN" sz="2000" dirty="0"/>
              <a:t>                                           M .Dheeraj</a:t>
            </a:r>
          </a:p>
          <a:p>
            <a:r>
              <a:rPr lang="en-IN" sz="2000" dirty="0"/>
              <a:t>		           M . Shanker  </a:t>
            </a:r>
          </a:p>
        </p:txBody>
      </p:sp>
      <p:pic>
        <p:nvPicPr>
          <p:cNvPr id="6" name="Picture 5">
            <a:extLst>
              <a:ext uri="{FF2B5EF4-FFF2-40B4-BE49-F238E27FC236}">
                <a16:creationId xmlns:a16="http://schemas.microsoft.com/office/drawing/2014/main" id="{51F7A3A2-4AEA-6111-3EE8-092EFD0016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410" y="102637"/>
            <a:ext cx="1325724" cy="1075697"/>
          </a:xfrm>
          <a:prstGeom prst="rect">
            <a:avLst/>
          </a:prstGeom>
        </p:spPr>
      </p:pic>
      <p:pic>
        <p:nvPicPr>
          <p:cNvPr id="9" name="Picture 8">
            <a:extLst>
              <a:ext uri="{FF2B5EF4-FFF2-40B4-BE49-F238E27FC236}">
                <a16:creationId xmlns:a16="http://schemas.microsoft.com/office/drawing/2014/main" id="{3058E0B7-7F6A-09B8-12B0-C5E955425F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1068" y="391886"/>
            <a:ext cx="1309156" cy="354563"/>
          </a:xfrm>
          <a:prstGeom prst="rect">
            <a:avLst/>
          </a:prstGeom>
        </p:spPr>
      </p:pic>
    </p:spTree>
    <p:extLst>
      <p:ext uri="{BB962C8B-B14F-4D97-AF65-F5344CB8AC3E}">
        <p14:creationId xmlns:p14="http://schemas.microsoft.com/office/powerpoint/2010/main" val="895282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4DD3F4F-B5EC-7E56-B5CA-6D1565A63BCA}"/>
              </a:ext>
            </a:extLst>
          </p:cNvPr>
          <p:cNvSpPr/>
          <p:nvPr/>
        </p:nvSpPr>
        <p:spPr>
          <a:xfrm>
            <a:off x="67926" y="859460"/>
            <a:ext cx="5565350" cy="4435672"/>
          </a:xfrm>
          <a:prstGeom prst="roundRect">
            <a:avLst>
              <a:gd name="adj" fmla="val 16172"/>
            </a:avLst>
          </a:prstGeom>
          <a:ln>
            <a:solidFill>
              <a:srgbClr val="00B0F0"/>
            </a:solidFill>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US" sz="2000" b="1" u="sng" dirty="0">
              <a:solidFill>
                <a:schemeClr val="tx1"/>
              </a:solidFill>
              <a:ea typeface="+mn-lt"/>
              <a:cs typeface="+mn-lt"/>
            </a:endParaRPr>
          </a:p>
        </p:txBody>
      </p:sp>
      <p:sp>
        <p:nvSpPr>
          <p:cNvPr id="16" name="Rectangle: Rounded Corners 15">
            <a:extLst>
              <a:ext uri="{FF2B5EF4-FFF2-40B4-BE49-F238E27FC236}">
                <a16:creationId xmlns:a16="http://schemas.microsoft.com/office/drawing/2014/main" id="{62B523F1-68E0-3CCE-4145-2E180619C16D}"/>
              </a:ext>
            </a:extLst>
          </p:cNvPr>
          <p:cNvSpPr/>
          <p:nvPr/>
        </p:nvSpPr>
        <p:spPr>
          <a:xfrm>
            <a:off x="5853903" y="770819"/>
            <a:ext cx="6270171" cy="4323695"/>
          </a:xfrm>
          <a:prstGeom prst="roundRect">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endParaRPr lang="en-US" sz="2000" dirty="0">
              <a:solidFill>
                <a:schemeClr val="accent2"/>
              </a:solidFill>
              <a:latin typeface="Century Gothic"/>
              <a:ea typeface="Calibri"/>
              <a:cs typeface="Calibri"/>
            </a:endParaRPr>
          </a:p>
        </p:txBody>
      </p:sp>
      <p:sp>
        <p:nvSpPr>
          <p:cNvPr id="25" name="Rectangle 8">
            <a:extLst>
              <a:ext uri="{FF2B5EF4-FFF2-40B4-BE49-F238E27FC236}">
                <a16:creationId xmlns:a16="http://schemas.microsoft.com/office/drawing/2014/main" id="{1965BF80-42BF-5A43-8B4B-DB4F7C24371C}"/>
              </a:ext>
            </a:extLst>
          </p:cNvPr>
          <p:cNvSpPr>
            <a:spLocks noChangeArrowheads="1"/>
          </p:cNvSpPr>
          <p:nvPr/>
        </p:nvSpPr>
        <p:spPr bwMode="auto">
          <a:xfrm>
            <a:off x="424138" y="3432230"/>
            <a:ext cx="5286197"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b="1" u="sng" dirty="0">
                <a:solidFill>
                  <a:schemeClr val="accent2">
                    <a:lumMod val="75000"/>
                  </a:schemeClr>
                </a:solidFill>
                <a:ea typeface="+mn-lt"/>
                <a:cs typeface="+mn-lt"/>
              </a:rPr>
              <a:t>Challenges:</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Medical Report Complexity</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Patient Understanding</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Inconsistent Report Formats</a:t>
            </a:r>
          </a:p>
          <a:p>
            <a:pPr marL="285750" lvl="0" indent="-285750" eaLnBrk="0" fontAlgn="base" hangingPunct="0">
              <a:spcBef>
                <a:spcPct val="0"/>
              </a:spcBef>
              <a:spcAft>
                <a:spcPct val="0"/>
              </a:spcAft>
              <a:buFont typeface="Arial" panose="020B0604020202020204" pitchFamily="34" charset="0"/>
              <a:buChar char="•"/>
            </a:pPr>
            <a:r>
              <a:rPr lang="en-US" altLang="en-US" sz="1600" b="1" dirty="0">
                <a:latin typeface="Arial" panose="020B0604020202020204" pitchFamily="34" charset="0"/>
              </a:rPr>
              <a:t>Health Awareness</a:t>
            </a:r>
            <a:endParaRPr kumimoji="0" lang="en-US" altLang="en-US" sz="1600" b="1"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5BE96BEC-06E5-EC4A-3363-8D183FE05FE7}"/>
              </a:ext>
            </a:extLst>
          </p:cNvPr>
          <p:cNvSpPr txBox="1"/>
          <p:nvPr/>
        </p:nvSpPr>
        <p:spPr>
          <a:xfrm>
            <a:off x="424138" y="971663"/>
            <a:ext cx="5352706" cy="1877437"/>
          </a:xfrm>
          <a:prstGeom prst="rect">
            <a:avLst/>
          </a:prstGeom>
          <a:noFill/>
        </p:spPr>
        <p:txBody>
          <a:bodyPr wrap="square" rtlCol="0">
            <a:spAutoFit/>
          </a:bodyPr>
          <a:lstStyle/>
          <a:p>
            <a:r>
              <a:rPr lang="en-US" sz="2000" b="1" u="sng" dirty="0">
                <a:solidFill>
                  <a:schemeClr val="accent2"/>
                </a:solidFill>
                <a:latin typeface="Century Gothic"/>
                <a:ea typeface="Calibri"/>
                <a:cs typeface="Calibri"/>
              </a:rPr>
              <a:t>Problem Statement:</a:t>
            </a:r>
            <a:br>
              <a:rPr lang="en-US" sz="2000" b="1" u="sng" dirty="0">
                <a:solidFill>
                  <a:schemeClr val="accent2"/>
                </a:solidFill>
                <a:latin typeface="Century Gothic"/>
                <a:ea typeface="Calibri"/>
                <a:cs typeface="Calibri"/>
              </a:rPr>
            </a:br>
            <a:r>
              <a:rPr lang="en-US" sz="1600" dirty="0">
                <a:latin typeface="Century Gothic"/>
                <a:ea typeface="Calibri"/>
                <a:cs typeface="Calibri"/>
              </a:rPr>
              <a:t>Patients often struggle to understand their medical test reports because they are filled with complex medical terms, unclear values, and inconsistent formats from different hospitals. This makes it difficult for them to know whether their results are normal or require attention.</a:t>
            </a:r>
          </a:p>
        </p:txBody>
      </p:sp>
      <p:sp>
        <p:nvSpPr>
          <p:cNvPr id="37" name="Rectangle 1">
            <a:extLst>
              <a:ext uri="{FF2B5EF4-FFF2-40B4-BE49-F238E27FC236}">
                <a16:creationId xmlns:a16="http://schemas.microsoft.com/office/drawing/2014/main" id="{4F3BB16E-8387-2961-A635-B1C831ADAAA7}"/>
              </a:ext>
            </a:extLst>
          </p:cNvPr>
          <p:cNvSpPr>
            <a:spLocks noChangeArrowheads="1"/>
          </p:cNvSpPr>
          <p:nvPr/>
        </p:nvSpPr>
        <p:spPr bwMode="auto">
          <a:xfrm>
            <a:off x="6054106" y="3077863"/>
            <a:ext cx="6057527"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Tx/>
              <a:buChar char="•"/>
            </a:pPr>
            <a:r>
              <a:rPr lang="en-US" b="1" u="sng" dirty="0">
                <a:solidFill>
                  <a:schemeClr val="accent2"/>
                </a:solidFill>
                <a:latin typeface="Century Gothic"/>
                <a:ea typeface="Calibri"/>
                <a:cs typeface="Calibri"/>
              </a:rPr>
              <a:t>Our Model Premises:</a:t>
            </a:r>
            <a:endParaRPr kumimoji="0" lang="en-US" altLang="en-US" b="1"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lang="en-US" altLang="en-US" sz="1600" b="1" dirty="0">
                <a:latin typeface="Arial" panose="020B0604020202020204" pitchFamily="34" charset="0"/>
              </a:rPr>
              <a:t>AI Report Simplifier</a:t>
            </a:r>
          </a:p>
          <a:p>
            <a:pPr lvl="0" eaLnBrk="0" fontAlgn="base" hangingPunct="0">
              <a:spcBef>
                <a:spcPct val="0"/>
              </a:spcBef>
              <a:spcAft>
                <a:spcPct val="0"/>
              </a:spcAft>
              <a:buFontTx/>
              <a:buChar char="•"/>
            </a:pPr>
            <a:r>
              <a:rPr lang="en-US" altLang="en-US" sz="1600" b="1" dirty="0">
                <a:latin typeface="Arial" panose="020B0604020202020204" pitchFamily="34" charset="0"/>
              </a:rPr>
              <a:t>Easy Health Insights</a:t>
            </a:r>
          </a:p>
          <a:p>
            <a:pPr lvl="0" eaLnBrk="0" fontAlgn="base" hangingPunct="0">
              <a:spcBef>
                <a:spcPct val="0"/>
              </a:spcBef>
              <a:spcAft>
                <a:spcPct val="0"/>
              </a:spcAft>
              <a:buFontTx/>
              <a:buChar char="•"/>
            </a:pPr>
            <a:r>
              <a:rPr lang="en-US" altLang="en-US" sz="1600" b="1" dirty="0">
                <a:latin typeface="Arial" panose="020B0604020202020204" pitchFamily="34" charset="0"/>
              </a:rPr>
              <a:t>Automated Report Analysis</a:t>
            </a:r>
          </a:p>
          <a:p>
            <a:pPr lvl="0" eaLnBrk="0" fontAlgn="base" hangingPunct="0">
              <a:spcBef>
                <a:spcPct val="0"/>
              </a:spcBef>
              <a:spcAft>
                <a:spcPct val="0"/>
              </a:spcAft>
              <a:buFontTx/>
              <a:buChar char="•"/>
            </a:pPr>
            <a:r>
              <a:rPr lang="en-US" altLang="en-US" sz="1600" b="1" dirty="0">
                <a:latin typeface="Arial" panose="020B0604020202020204" pitchFamily="34" charset="0"/>
              </a:rPr>
              <a:t>Patient-Friendly Summaries</a:t>
            </a:r>
            <a:endParaRPr kumimoji="0" lang="en-US" altLang="en-US" sz="1600" b="1" i="0" u="none" strike="noStrike" cap="none" normalizeH="0" baseline="0" dirty="0">
              <a:ln>
                <a:noFill/>
              </a:ln>
              <a:solidFill>
                <a:schemeClr val="tx1"/>
              </a:solidFill>
              <a:effectLst/>
              <a:latin typeface="Arial" panose="020B0604020202020204" pitchFamily="34" charset="0"/>
            </a:endParaRPr>
          </a:p>
        </p:txBody>
      </p:sp>
      <p:sp>
        <p:nvSpPr>
          <p:cNvPr id="38" name="TextBox 37">
            <a:extLst>
              <a:ext uri="{FF2B5EF4-FFF2-40B4-BE49-F238E27FC236}">
                <a16:creationId xmlns:a16="http://schemas.microsoft.com/office/drawing/2014/main" id="{194F13AB-021F-352D-7064-A466D2DD1099}"/>
              </a:ext>
            </a:extLst>
          </p:cNvPr>
          <p:cNvSpPr txBox="1"/>
          <p:nvPr/>
        </p:nvSpPr>
        <p:spPr>
          <a:xfrm>
            <a:off x="6118727" y="989453"/>
            <a:ext cx="5928287" cy="1477328"/>
          </a:xfrm>
          <a:prstGeom prst="rect">
            <a:avLst/>
          </a:prstGeom>
          <a:noFill/>
        </p:spPr>
        <p:txBody>
          <a:bodyPr wrap="square" rtlCol="0">
            <a:spAutoFit/>
          </a:bodyPr>
          <a:lstStyle/>
          <a:p>
            <a:r>
              <a:rPr lang="en-US" b="1" u="sng" dirty="0">
                <a:solidFill>
                  <a:schemeClr val="accent2"/>
                </a:solidFill>
                <a:latin typeface="Century Gothic"/>
                <a:ea typeface="Calibri"/>
                <a:cs typeface="Calibri"/>
              </a:rPr>
              <a:t>Proposed Solution:</a:t>
            </a:r>
            <a:endParaRPr lang="en-US" dirty="0">
              <a:solidFill>
                <a:schemeClr val="accent2"/>
              </a:solidFill>
              <a:latin typeface="Century Gothic"/>
              <a:ea typeface="Calibri"/>
              <a:cs typeface="Calibri"/>
            </a:endParaRPr>
          </a:p>
          <a:p>
            <a:r>
              <a:rPr lang="en-US" dirty="0"/>
              <a:t>An AI-powered system that reads and interprets medical test reports, extracts key health parameters, and converts them into simple, patient-friendly summaries. It also compares current and past reports to show health progress clearly.</a:t>
            </a:r>
            <a:endParaRPr lang="en-IN" dirty="0"/>
          </a:p>
        </p:txBody>
      </p:sp>
      <p:sp>
        <p:nvSpPr>
          <p:cNvPr id="2" name="TextBox 1">
            <a:extLst>
              <a:ext uri="{FF2B5EF4-FFF2-40B4-BE49-F238E27FC236}">
                <a16:creationId xmlns:a16="http://schemas.microsoft.com/office/drawing/2014/main" id="{C1553AB2-F58D-9129-57D0-9D8D7D03ED13}"/>
              </a:ext>
            </a:extLst>
          </p:cNvPr>
          <p:cNvSpPr txBox="1"/>
          <p:nvPr/>
        </p:nvSpPr>
        <p:spPr>
          <a:xfrm>
            <a:off x="424138" y="147538"/>
            <a:ext cx="6811347" cy="461665"/>
          </a:xfrm>
          <a:prstGeom prst="rect">
            <a:avLst/>
          </a:prstGeom>
          <a:noFill/>
        </p:spPr>
        <p:txBody>
          <a:bodyPr wrap="square" rtlCol="0">
            <a:spAutoFit/>
          </a:bodyPr>
          <a:lstStyle/>
          <a:p>
            <a:r>
              <a:rPr lang="en-US" sz="2400" b="1" dirty="0">
                <a:solidFill>
                  <a:schemeClr val="accent2"/>
                </a:solidFill>
              </a:rPr>
              <a:t>Project Over View :-</a:t>
            </a:r>
            <a:endParaRPr lang="en-IN" sz="2400" b="1" dirty="0">
              <a:solidFill>
                <a:schemeClr val="accent2"/>
              </a:solidFill>
            </a:endParaRPr>
          </a:p>
        </p:txBody>
      </p:sp>
      <p:sp>
        <p:nvSpPr>
          <p:cNvPr id="3" name="Rectangle: Rounded Corners 2">
            <a:extLst>
              <a:ext uri="{FF2B5EF4-FFF2-40B4-BE49-F238E27FC236}">
                <a16:creationId xmlns:a16="http://schemas.microsoft.com/office/drawing/2014/main" id="{A924DC67-4577-E5A7-10D8-A1D9F9DC63BE}"/>
              </a:ext>
            </a:extLst>
          </p:cNvPr>
          <p:cNvSpPr/>
          <p:nvPr/>
        </p:nvSpPr>
        <p:spPr>
          <a:xfrm>
            <a:off x="233265" y="5514392"/>
            <a:ext cx="5543579" cy="1196070"/>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A06377A-2258-7AD1-11C3-7E18D1B924FE}"/>
              </a:ext>
            </a:extLst>
          </p:cNvPr>
          <p:cNvSpPr txBox="1"/>
          <p:nvPr/>
        </p:nvSpPr>
        <p:spPr>
          <a:xfrm>
            <a:off x="424138" y="5589037"/>
            <a:ext cx="2785593" cy="400110"/>
          </a:xfrm>
          <a:prstGeom prst="rect">
            <a:avLst/>
          </a:prstGeom>
          <a:noFill/>
        </p:spPr>
        <p:txBody>
          <a:bodyPr wrap="square" rtlCol="0">
            <a:spAutoFit/>
          </a:bodyPr>
          <a:lstStyle/>
          <a:p>
            <a:r>
              <a:rPr lang="en-US" sz="2000" b="1" dirty="0">
                <a:solidFill>
                  <a:schemeClr val="accent2"/>
                </a:solidFill>
              </a:rPr>
              <a:t>Targeted Audiences:-</a:t>
            </a:r>
            <a:endParaRPr lang="en-IN" sz="2000" b="1" dirty="0">
              <a:solidFill>
                <a:schemeClr val="accent2"/>
              </a:solidFill>
            </a:endParaRPr>
          </a:p>
        </p:txBody>
      </p:sp>
      <p:sp>
        <p:nvSpPr>
          <p:cNvPr id="6" name="TextBox 5">
            <a:extLst>
              <a:ext uri="{FF2B5EF4-FFF2-40B4-BE49-F238E27FC236}">
                <a16:creationId xmlns:a16="http://schemas.microsoft.com/office/drawing/2014/main" id="{F580C92F-BEDD-181E-231A-37B430D82634}"/>
              </a:ext>
            </a:extLst>
          </p:cNvPr>
          <p:cNvSpPr txBox="1"/>
          <p:nvPr/>
        </p:nvSpPr>
        <p:spPr>
          <a:xfrm>
            <a:off x="494522" y="5989147"/>
            <a:ext cx="4758613" cy="400110"/>
          </a:xfrm>
          <a:prstGeom prst="rect">
            <a:avLst/>
          </a:prstGeom>
          <a:noFill/>
        </p:spPr>
        <p:txBody>
          <a:bodyPr wrap="square" rtlCol="0">
            <a:spAutoFit/>
          </a:bodyPr>
          <a:lstStyle/>
          <a:p>
            <a:r>
              <a:rPr lang="en-US" sz="2000" b="1" dirty="0"/>
              <a:t>          Patients                                     Doctors</a:t>
            </a:r>
            <a:endParaRPr lang="en-IN" sz="2000" b="1" dirty="0"/>
          </a:p>
        </p:txBody>
      </p:sp>
      <p:sp>
        <p:nvSpPr>
          <p:cNvPr id="7" name="Rectangle: Rounded Corners 6">
            <a:extLst>
              <a:ext uri="{FF2B5EF4-FFF2-40B4-BE49-F238E27FC236}">
                <a16:creationId xmlns:a16="http://schemas.microsoft.com/office/drawing/2014/main" id="{CF2B4B74-0319-FC41-F1D4-58A7152270F3}"/>
              </a:ext>
            </a:extLst>
          </p:cNvPr>
          <p:cNvSpPr/>
          <p:nvPr/>
        </p:nvSpPr>
        <p:spPr>
          <a:xfrm>
            <a:off x="5962261" y="5514392"/>
            <a:ext cx="6084753" cy="1196070"/>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18DCDFFC-0CB7-EDE8-2E95-F51DCADFBF44}"/>
              </a:ext>
            </a:extLst>
          </p:cNvPr>
          <p:cNvSpPr txBox="1"/>
          <p:nvPr/>
        </p:nvSpPr>
        <p:spPr>
          <a:xfrm>
            <a:off x="6223518" y="5589037"/>
            <a:ext cx="2649894" cy="461665"/>
          </a:xfrm>
          <a:prstGeom prst="rect">
            <a:avLst/>
          </a:prstGeom>
          <a:noFill/>
        </p:spPr>
        <p:txBody>
          <a:bodyPr wrap="square" rtlCol="0">
            <a:spAutoFit/>
          </a:bodyPr>
          <a:lstStyle/>
          <a:p>
            <a:r>
              <a:rPr lang="en-US" sz="2400" b="1" dirty="0">
                <a:solidFill>
                  <a:schemeClr val="accent2"/>
                </a:solidFill>
              </a:rPr>
              <a:t>Link’s:-</a:t>
            </a:r>
            <a:endParaRPr lang="en-IN" sz="2400" b="1" dirty="0">
              <a:solidFill>
                <a:schemeClr val="accent2"/>
              </a:solidFill>
            </a:endParaRPr>
          </a:p>
        </p:txBody>
      </p:sp>
      <p:pic>
        <p:nvPicPr>
          <p:cNvPr id="2050" name="Picture 2" descr="Doctor Logo Vector Images (over 84,000)">
            <a:extLst>
              <a:ext uri="{FF2B5EF4-FFF2-40B4-BE49-F238E27FC236}">
                <a16:creationId xmlns:a16="http://schemas.microsoft.com/office/drawing/2014/main" id="{496F1CF3-E5BF-289D-BFE1-AE13AA01A8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148" y="5856293"/>
            <a:ext cx="610750" cy="69089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atient Generic Blue icon | Freepik">
            <a:extLst>
              <a:ext uri="{FF2B5EF4-FFF2-40B4-BE49-F238E27FC236}">
                <a16:creationId xmlns:a16="http://schemas.microsoft.com/office/drawing/2014/main" id="{1034862E-E33B-FF05-ED22-4197DB6D66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138" y="5927982"/>
            <a:ext cx="699796" cy="69979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D03A5A0-6BF2-8B64-418C-9D5CEC2BC1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3077" y="6019088"/>
            <a:ext cx="630221" cy="56320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itHub Logo, symbol, meaning, history, PNG, brand">
            <a:extLst>
              <a:ext uri="{FF2B5EF4-FFF2-40B4-BE49-F238E27FC236}">
                <a16:creationId xmlns:a16="http://schemas.microsoft.com/office/drawing/2014/main" id="{F866AF4D-1CD8-B5A3-2F35-82702B8F4B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63231" y="5927982"/>
            <a:ext cx="1196981" cy="673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20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D01218-2612-F236-42A2-C56D0973E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9036"/>
            <a:ext cx="4951379" cy="5778655"/>
          </a:xfrm>
          <a:prstGeom prst="rect">
            <a:avLst/>
          </a:prstGeom>
        </p:spPr>
      </p:pic>
      <p:sp>
        <p:nvSpPr>
          <p:cNvPr id="7" name="TextBox 6">
            <a:extLst>
              <a:ext uri="{FF2B5EF4-FFF2-40B4-BE49-F238E27FC236}">
                <a16:creationId xmlns:a16="http://schemas.microsoft.com/office/drawing/2014/main" id="{983E9430-FBFD-90A6-0990-86DCDBC15BAA}"/>
              </a:ext>
            </a:extLst>
          </p:cNvPr>
          <p:cNvSpPr txBox="1"/>
          <p:nvPr/>
        </p:nvSpPr>
        <p:spPr>
          <a:xfrm>
            <a:off x="8125029" y="5107363"/>
            <a:ext cx="3687923" cy="1200329"/>
          </a:xfrm>
          <a:prstGeom prst="rect">
            <a:avLst/>
          </a:prstGeom>
          <a:noFill/>
        </p:spPr>
        <p:txBody>
          <a:bodyPr wrap="square">
            <a:spAutoFit/>
          </a:bodyPr>
          <a:lstStyle/>
          <a:p>
            <a:r>
              <a:rPr lang="en-IN" b="1" dirty="0">
                <a:solidFill>
                  <a:schemeClr val="accent2"/>
                </a:solidFill>
              </a:rPr>
              <a:t>Tech Used </a:t>
            </a:r>
            <a:r>
              <a:rPr lang="en-IN" dirty="0"/>
              <a:t>:-</a:t>
            </a:r>
          </a:p>
          <a:p>
            <a:r>
              <a:rPr lang="en-IN" dirty="0"/>
              <a:t>1)Python                       4)SQL</a:t>
            </a:r>
          </a:p>
          <a:p>
            <a:r>
              <a:rPr lang="en-IN" dirty="0"/>
              <a:t>2)Flutter                        5)Express.js</a:t>
            </a:r>
          </a:p>
          <a:p>
            <a:r>
              <a:rPr lang="en-IN" dirty="0"/>
              <a:t>3)Node.js                      6)TensorFlow</a:t>
            </a:r>
          </a:p>
        </p:txBody>
      </p:sp>
      <p:sp>
        <p:nvSpPr>
          <p:cNvPr id="37" name="Rectangle: Rounded Corners 36">
            <a:extLst>
              <a:ext uri="{FF2B5EF4-FFF2-40B4-BE49-F238E27FC236}">
                <a16:creationId xmlns:a16="http://schemas.microsoft.com/office/drawing/2014/main" id="{03885FAB-C4DB-9CC5-EE9B-08139CA15EFF}"/>
              </a:ext>
            </a:extLst>
          </p:cNvPr>
          <p:cNvSpPr/>
          <p:nvPr/>
        </p:nvSpPr>
        <p:spPr>
          <a:xfrm>
            <a:off x="7976681" y="4931923"/>
            <a:ext cx="3836271" cy="1770434"/>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77F63422-5FD6-D5C8-6AFE-A45520D9AA6C}"/>
              </a:ext>
            </a:extLst>
          </p:cNvPr>
          <p:cNvSpPr txBox="1"/>
          <p:nvPr/>
        </p:nvSpPr>
        <p:spPr>
          <a:xfrm>
            <a:off x="282102" y="97277"/>
            <a:ext cx="5077838" cy="461665"/>
          </a:xfrm>
          <a:prstGeom prst="rect">
            <a:avLst/>
          </a:prstGeom>
          <a:noFill/>
        </p:spPr>
        <p:txBody>
          <a:bodyPr wrap="square" rtlCol="0">
            <a:spAutoFit/>
          </a:bodyPr>
          <a:lstStyle/>
          <a:p>
            <a:r>
              <a:rPr lang="en-US" sz="2400" b="1" dirty="0">
                <a:solidFill>
                  <a:schemeClr val="accent2"/>
                </a:solidFill>
              </a:rPr>
              <a:t>Flow chart:-</a:t>
            </a:r>
            <a:endParaRPr lang="en-IN" sz="2400" b="1" dirty="0">
              <a:solidFill>
                <a:schemeClr val="accent2"/>
              </a:solidFill>
            </a:endParaRPr>
          </a:p>
        </p:txBody>
      </p:sp>
      <p:sp>
        <p:nvSpPr>
          <p:cNvPr id="39" name="Rectangle: Rounded Corners 38">
            <a:extLst>
              <a:ext uri="{FF2B5EF4-FFF2-40B4-BE49-F238E27FC236}">
                <a16:creationId xmlns:a16="http://schemas.microsoft.com/office/drawing/2014/main" id="{4F132659-A91D-E066-AB5D-D6654D6408BA}"/>
              </a:ext>
            </a:extLst>
          </p:cNvPr>
          <p:cNvSpPr/>
          <p:nvPr/>
        </p:nvSpPr>
        <p:spPr>
          <a:xfrm>
            <a:off x="5214026" y="97277"/>
            <a:ext cx="6598926" cy="4439981"/>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2">
            <a:extLst>
              <a:ext uri="{FF2B5EF4-FFF2-40B4-BE49-F238E27FC236}">
                <a16:creationId xmlns:a16="http://schemas.microsoft.com/office/drawing/2014/main" id="{4018A05C-7A13-03DD-EFA5-D2AA09FDCCBE}"/>
              </a:ext>
            </a:extLst>
          </p:cNvPr>
          <p:cNvSpPr>
            <a:spLocks noChangeArrowheads="1"/>
          </p:cNvSpPr>
          <p:nvPr/>
        </p:nvSpPr>
        <p:spPr bwMode="auto">
          <a:xfrm rot="10800000" flipV="1">
            <a:off x="5511215" y="328109"/>
            <a:ext cx="5788156"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Start &amp; Upload</a:t>
            </a:r>
            <a:r>
              <a:rPr kumimoji="0" lang="en-US" altLang="en-US" sz="1600" b="0" i="0" u="none" strike="noStrike" cap="none" normalizeH="0" baseline="0" dirty="0">
                <a:ln>
                  <a:noFill/>
                </a:ln>
                <a:solidFill>
                  <a:schemeClr val="tx1"/>
                </a:solidFill>
                <a:effectLst/>
                <a:latin typeface="Arial" panose="020B0604020202020204" pitchFamily="34" charset="0"/>
              </a:rPr>
              <a:t>: The process begins when a patient uploads their lab report into the app.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Process Report</a:t>
            </a:r>
            <a:r>
              <a:rPr kumimoji="0" lang="en-US" altLang="en-US" sz="1600" b="0" i="0" u="none" strike="noStrike" cap="none" normalizeH="0" baseline="0" dirty="0">
                <a:ln>
                  <a:noFill/>
                </a:ln>
                <a:solidFill>
                  <a:schemeClr val="tx1"/>
                </a:solidFill>
                <a:effectLst/>
                <a:latin typeface="Arial" panose="020B0604020202020204" pitchFamily="34" charset="0"/>
              </a:rPr>
              <a:t>: The app processes the uploaded report to extract key information and test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Generate &amp; Show Summary</a:t>
            </a:r>
            <a:r>
              <a:rPr kumimoji="0" lang="en-US" altLang="en-US" sz="1600" b="0" i="0" u="none" strike="noStrike" cap="none" normalizeH="0" baseline="0" dirty="0">
                <a:ln>
                  <a:noFill/>
                </a:ln>
                <a:solidFill>
                  <a:schemeClr val="tx1"/>
                </a:solidFill>
                <a:effectLst/>
                <a:latin typeface="Arial" panose="020B0604020202020204" pitchFamily="34" charset="0"/>
              </a:rPr>
              <a:t>: A simplified, patient-friendly summary of the report is generated and displayed, making it easier to understand.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Explain Results (Optional)</a:t>
            </a:r>
            <a:r>
              <a:rPr kumimoji="0" lang="en-US" altLang="en-US" sz="1600" b="0" i="0" u="none" strike="noStrike" cap="none" normalizeH="0" baseline="0" dirty="0">
                <a:ln>
                  <a:noFill/>
                </a:ln>
                <a:solidFill>
                  <a:schemeClr val="tx1"/>
                </a:solidFill>
                <a:effectLst/>
                <a:latin typeface="Arial" panose="020B0604020202020204" pitchFamily="34" charset="0"/>
              </a:rPr>
              <a:t>: The app can provide explanations for specific test results if the patient wants more details.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Compare with Previous Reports</a:t>
            </a:r>
            <a:r>
              <a:rPr kumimoji="0" lang="en-US" altLang="en-US" sz="1600" b="0" i="0" u="none" strike="noStrike" cap="none" normalizeH="0" baseline="0" dirty="0">
                <a:ln>
                  <a:noFill/>
                </a:ln>
                <a:solidFill>
                  <a:schemeClr val="tx1"/>
                </a:solidFill>
                <a:effectLst/>
                <a:latin typeface="Arial" panose="020B0604020202020204" pitchFamily="34" charset="0"/>
              </a:rPr>
              <a:t>: The app compares the current report with the patient’s past reports to track changes and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Suggest Actions &amp; End</a:t>
            </a:r>
            <a:r>
              <a:rPr kumimoji="0" lang="en-US" altLang="en-US" sz="1600" b="0" i="0" u="none" strike="noStrike" cap="none" normalizeH="0" baseline="0" dirty="0">
                <a:ln>
                  <a:noFill/>
                </a:ln>
                <a:solidFill>
                  <a:schemeClr val="tx1"/>
                </a:solidFill>
                <a:effectLst/>
                <a:latin typeface="Arial" panose="020B0604020202020204" pitchFamily="34" charset="0"/>
              </a:rPr>
              <a:t>: Based on the analysis, the app suggests possible actions (like lifestyle changes or doctor consultation), and the process ends.</a:t>
            </a:r>
          </a:p>
        </p:txBody>
      </p:sp>
    </p:spTree>
    <p:extLst>
      <p:ext uri="{BB962C8B-B14F-4D97-AF65-F5344CB8AC3E}">
        <p14:creationId xmlns:p14="http://schemas.microsoft.com/office/powerpoint/2010/main" val="4264204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74A445-6466-B1AE-306F-AB87D8B8A8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741" y="1320363"/>
            <a:ext cx="1266883" cy="2617992"/>
          </a:xfrm>
          <a:prstGeom prst="rect">
            <a:avLst/>
          </a:prstGeom>
        </p:spPr>
      </p:pic>
      <p:pic>
        <p:nvPicPr>
          <p:cNvPr id="5" name="Picture 4">
            <a:extLst>
              <a:ext uri="{FF2B5EF4-FFF2-40B4-BE49-F238E27FC236}">
                <a16:creationId xmlns:a16="http://schemas.microsoft.com/office/drawing/2014/main" id="{FB9E26B3-9643-5D69-3226-0899F3D3F3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3870" y="1326053"/>
            <a:ext cx="1275612" cy="2617992"/>
          </a:xfrm>
          <a:prstGeom prst="rect">
            <a:avLst/>
          </a:prstGeom>
        </p:spPr>
      </p:pic>
      <p:pic>
        <p:nvPicPr>
          <p:cNvPr id="6" name="Picture 5">
            <a:extLst>
              <a:ext uri="{FF2B5EF4-FFF2-40B4-BE49-F238E27FC236}">
                <a16:creationId xmlns:a16="http://schemas.microsoft.com/office/drawing/2014/main" id="{76802DAD-8235-FBBC-D606-9ABCBC000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4791" y="1320363"/>
            <a:ext cx="1255457" cy="2617992"/>
          </a:xfrm>
          <a:prstGeom prst="rect">
            <a:avLst/>
          </a:prstGeom>
        </p:spPr>
      </p:pic>
      <p:pic>
        <p:nvPicPr>
          <p:cNvPr id="7" name="Picture 6">
            <a:extLst>
              <a:ext uri="{FF2B5EF4-FFF2-40B4-BE49-F238E27FC236}">
                <a16:creationId xmlns:a16="http://schemas.microsoft.com/office/drawing/2014/main" id="{323ED056-EAE0-96C2-D35F-7DAA5AC08C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75071" y="1320364"/>
            <a:ext cx="1275612" cy="2617992"/>
          </a:xfrm>
          <a:prstGeom prst="rect">
            <a:avLst/>
          </a:prstGeom>
        </p:spPr>
      </p:pic>
      <p:sp>
        <p:nvSpPr>
          <p:cNvPr id="8" name="TextBox 7">
            <a:extLst>
              <a:ext uri="{FF2B5EF4-FFF2-40B4-BE49-F238E27FC236}">
                <a16:creationId xmlns:a16="http://schemas.microsoft.com/office/drawing/2014/main" id="{22169B1D-5FC8-60A6-7BD7-862603FB8943}"/>
              </a:ext>
            </a:extLst>
          </p:cNvPr>
          <p:cNvSpPr txBox="1"/>
          <p:nvPr/>
        </p:nvSpPr>
        <p:spPr>
          <a:xfrm>
            <a:off x="300315" y="193620"/>
            <a:ext cx="6423413" cy="461665"/>
          </a:xfrm>
          <a:prstGeom prst="rect">
            <a:avLst/>
          </a:prstGeom>
          <a:noFill/>
        </p:spPr>
        <p:txBody>
          <a:bodyPr wrap="square">
            <a:spAutoFit/>
          </a:bodyPr>
          <a:lstStyle/>
          <a:p>
            <a:r>
              <a:rPr lang="en-US" sz="2400" b="1" dirty="0">
                <a:solidFill>
                  <a:schemeClr val="accent2"/>
                </a:solidFill>
                <a:latin typeface="Cambria"/>
                <a:ea typeface="Cambria"/>
              </a:rPr>
              <a:t>Prototype :</a:t>
            </a:r>
          </a:p>
        </p:txBody>
      </p:sp>
      <p:sp>
        <p:nvSpPr>
          <p:cNvPr id="9" name="Rectangle: Rounded Corners 8">
            <a:extLst>
              <a:ext uri="{FF2B5EF4-FFF2-40B4-BE49-F238E27FC236}">
                <a16:creationId xmlns:a16="http://schemas.microsoft.com/office/drawing/2014/main" id="{B7E0E1B9-F37F-14B5-034A-A78858E828A1}"/>
              </a:ext>
            </a:extLst>
          </p:cNvPr>
          <p:cNvSpPr/>
          <p:nvPr/>
        </p:nvSpPr>
        <p:spPr>
          <a:xfrm>
            <a:off x="77820" y="834929"/>
            <a:ext cx="11118716" cy="3600241"/>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3D39B1A0-25D1-04CB-8158-40B90679D4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29263" y="1329694"/>
            <a:ext cx="502952" cy="200527"/>
          </a:xfrm>
          <a:prstGeom prst="rect">
            <a:avLst/>
          </a:prstGeom>
        </p:spPr>
      </p:pic>
      <p:sp>
        <p:nvSpPr>
          <p:cNvPr id="12" name="TextBox 11">
            <a:extLst>
              <a:ext uri="{FF2B5EF4-FFF2-40B4-BE49-F238E27FC236}">
                <a16:creationId xmlns:a16="http://schemas.microsoft.com/office/drawing/2014/main" id="{7C059C36-555C-6263-1970-D7B67ECDAA87}"/>
              </a:ext>
            </a:extLst>
          </p:cNvPr>
          <p:cNvSpPr txBox="1"/>
          <p:nvPr/>
        </p:nvSpPr>
        <p:spPr>
          <a:xfrm>
            <a:off x="712741" y="4717915"/>
            <a:ext cx="10104416" cy="1200329"/>
          </a:xfrm>
          <a:prstGeom prst="rect">
            <a:avLst/>
          </a:prstGeom>
          <a:noFill/>
        </p:spPr>
        <p:txBody>
          <a:bodyPr wrap="square" rtlCol="0">
            <a:spAutoFit/>
          </a:bodyPr>
          <a:lstStyle/>
          <a:p>
            <a:r>
              <a:rPr lang="en-US" dirty="0"/>
              <a:t>Login Page                                 Home Page                                     Ai Report Analysis                    After Analysis</a:t>
            </a:r>
          </a:p>
          <a:p>
            <a:r>
              <a:rPr lang="en-US" dirty="0"/>
              <a:t>User login in the                      user press on the “scan                 select the report file               The report will</a:t>
            </a:r>
          </a:p>
          <a:p>
            <a:r>
              <a:rPr lang="en-US" dirty="0"/>
              <a:t>App                                            Report” to analysis to                    from device storage                generated</a:t>
            </a:r>
          </a:p>
          <a:p>
            <a:r>
              <a:rPr lang="en-US" dirty="0"/>
              <a:t>                                                    simple form</a:t>
            </a:r>
            <a:endParaRPr lang="en-IN" dirty="0"/>
          </a:p>
        </p:txBody>
      </p:sp>
      <p:sp>
        <p:nvSpPr>
          <p:cNvPr id="28" name="Arrow: Up 27">
            <a:extLst>
              <a:ext uri="{FF2B5EF4-FFF2-40B4-BE49-F238E27FC236}">
                <a16:creationId xmlns:a16="http://schemas.microsoft.com/office/drawing/2014/main" id="{0EB9BCD1-0502-F12D-29AB-42BD3C8F665C}"/>
              </a:ext>
            </a:extLst>
          </p:cNvPr>
          <p:cNvSpPr/>
          <p:nvPr/>
        </p:nvSpPr>
        <p:spPr>
          <a:xfrm>
            <a:off x="1223219" y="4170174"/>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Up 12">
            <a:extLst>
              <a:ext uri="{FF2B5EF4-FFF2-40B4-BE49-F238E27FC236}">
                <a16:creationId xmlns:a16="http://schemas.microsoft.com/office/drawing/2014/main" id="{557D171C-872B-8CC6-3DCC-4779B098240B}"/>
              </a:ext>
            </a:extLst>
          </p:cNvPr>
          <p:cNvSpPr/>
          <p:nvPr/>
        </p:nvSpPr>
        <p:spPr>
          <a:xfrm>
            <a:off x="4339464" y="4187848"/>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Up 13">
            <a:extLst>
              <a:ext uri="{FF2B5EF4-FFF2-40B4-BE49-F238E27FC236}">
                <a16:creationId xmlns:a16="http://schemas.microsoft.com/office/drawing/2014/main" id="{8FC615F5-5DEB-CDEA-BBCF-A98273D63C5C}"/>
              </a:ext>
            </a:extLst>
          </p:cNvPr>
          <p:cNvSpPr/>
          <p:nvPr/>
        </p:nvSpPr>
        <p:spPr>
          <a:xfrm>
            <a:off x="7079556" y="4240870"/>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Up 14">
            <a:extLst>
              <a:ext uri="{FF2B5EF4-FFF2-40B4-BE49-F238E27FC236}">
                <a16:creationId xmlns:a16="http://schemas.microsoft.com/office/drawing/2014/main" id="{68185CF0-C50A-42CC-FDDD-75E65EAFBF4B}"/>
              </a:ext>
            </a:extLst>
          </p:cNvPr>
          <p:cNvSpPr/>
          <p:nvPr/>
        </p:nvSpPr>
        <p:spPr>
          <a:xfrm>
            <a:off x="9573722" y="4221101"/>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48473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DC7414E-859D-ED9B-0AE9-B5B35F8949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914" y="733858"/>
            <a:ext cx="1242837" cy="2695142"/>
          </a:xfrm>
          <a:prstGeom prst="rect">
            <a:avLst/>
          </a:prstGeom>
        </p:spPr>
      </p:pic>
      <p:pic>
        <p:nvPicPr>
          <p:cNvPr id="12" name="Picture 11">
            <a:extLst>
              <a:ext uri="{FF2B5EF4-FFF2-40B4-BE49-F238E27FC236}">
                <a16:creationId xmlns:a16="http://schemas.microsoft.com/office/drawing/2014/main" id="{38851D8E-3CCB-93C4-840A-8F54B407D1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9900" y="743296"/>
            <a:ext cx="1232023" cy="2702051"/>
          </a:xfrm>
          <a:prstGeom prst="rect">
            <a:avLst/>
          </a:prstGeom>
        </p:spPr>
      </p:pic>
      <p:pic>
        <p:nvPicPr>
          <p:cNvPr id="13" name="Picture 12">
            <a:extLst>
              <a:ext uri="{FF2B5EF4-FFF2-40B4-BE49-F238E27FC236}">
                <a16:creationId xmlns:a16="http://schemas.microsoft.com/office/drawing/2014/main" id="{DFB9BF68-F3E6-8D43-7F38-EEBFD664B0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9650" y="4051570"/>
            <a:ext cx="1102972" cy="2407329"/>
          </a:xfrm>
          <a:prstGeom prst="rect">
            <a:avLst/>
          </a:prstGeom>
        </p:spPr>
      </p:pic>
      <p:pic>
        <p:nvPicPr>
          <p:cNvPr id="14" name="Picture 13">
            <a:extLst>
              <a:ext uri="{FF2B5EF4-FFF2-40B4-BE49-F238E27FC236}">
                <a16:creationId xmlns:a16="http://schemas.microsoft.com/office/drawing/2014/main" id="{A21CD6A4-56B5-1CEB-EABC-3C037A9348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19329" y="743296"/>
            <a:ext cx="1146629" cy="2558374"/>
          </a:xfrm>
          <a:prstGeom prst="rect">
            <a:avLst/>
          </a:prstGeom>
        </p:spPr>
      </p:pic>
      <p:pic>
        <p:nvPicPr>
          <p:cNvPr id="15" name="Picture 14">
            <a:extLst>
              <a:ext uri="{FF2B5EF4-FFF2-40B4-BE49-F238E27FC236}">
                <a16:creationId xmlns:a16="http://schemas.microsoft.com/office/drawing/2014/main" id="{E9F0477B-2729-7761-0CA6-818F5F5E8E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95912" y="777477"/>
            <a:ext cx="1243975" cy="2752252"/>
          </a:xfrm>
          <a:prstGeom prst="rect">
            <a:avLst/>
          </a:prstGeom>
        </p:spPr>
      </p:pic>
      <p:pic>
        <p:nvPicPr>
          <p:cNvPr id="16" name="Picture 15">
            <a:extLst>
              <a:ext uri="{FF2B5EF4-FFF2-40B4-BE49-F238E27FC236}">
                <a16:creationId xmlns:a16="http://schemas.microsoft.com/office/drawing/2014/main" id="{91BEA42F-8969-47F1-9FE8-9B9689D294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89951" y="1059707"/>
            <a:ext cx="998285" cy="2187791"/>
          </a:xfrm>
          <a:prstGeom prst="rect">
            <a:avLst/>
          </a:prstGeom>
        </p:spPr>
      </p:pic>
      <p:pic>
        <p:nvPicPr>
          <p:cNvPr id="17" name="Picture 16">
            <a:extLst>
              <a:ext uri="{FF2B5EF4-FFF2-40B4-BE49-F238E27FC236}">
                <a16:creationId xmlns:a16="http://schemas.microsoft.com/office/drawing/2014/main" id="{00503BD8-C961-07FB-4668-FA5C62D867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98743" y="4122987"/>
            <a:ext cx="1164477" cy="2534450"/>
          </a:xfrm>
          <a:prstGeom prst="rect">
            <a:avLst/>
          </a:prstGeom>
        </p:spPr>
      </p:pic>
      <p:sp>
        <p:nvSpPr>
          <p:cNvPr id="18" name="Rectangle: Rounded Corners 17">
            <a:extLst>
              <a:ext uri="{FF2B5EF4-FFF2-40B4-BE49-F238E27FC236}">
                <a16:creationId xmlns:a16="http://schemas.microsoft.com/office/drawing/2014/main" id="{7C5706FA-AFA0-8EE8-4259-C8527AF52C62}"/>
              </a:ext>
            </a:extLst>
          </p:cNvPr>
          <p:cNvSpPr/>
          <p:nvPr/>
        </p:nvSpPr>
        <p:spPr>
          <a:xfrm>
            <a:off x="97277" y="457200"/>
            <a:ext cx="8492246" cy="3287949"/>
          </a:xfrm>
          <a:prstGeom prst="round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9ED33101-B41A-A69D-0D00-0A1478537476}"/>
              </a:ext>
            </a:extLst>
          </p:cNvPr>
          <p:cNvSpPr/>
          <p:nvPr/>
        </p:nvSpPr>
        <p:spPr>
          <a:xfrm>
            <a:off x="7788236" y="3852153"/>
            <a:ext cx="4021143" cy="3005847"/>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296019E3-4846-0772-3A04-FE1A3CDB27AC}"/>
              </a:ext>
            </a:extLst>
          </p:cNvPr>
          <p:cNvSpPr txBox="1"/>
          <p:nvPr/>
        </p:nvSpPr>
        <p:spPr>
          <a:xfrm>
            <a:off x="97278" y="3852153"/>
            <a:ext cx="9212092" cy="923330"/>
          </a:xfrm>
          <a:prstGeom prst="rect">
            <a:avLst/>
          </a:prstGeom>
          <a:noFill/>
        </p:spPr>
        <p:txBody>
          <a:bodyPr wrap="square" rtlCol="0">
            <a:spAutoFit/>
          </a:bodyPr>
          <a:lstStyle/>
          <a:p>
            <a:r>
              <a:rPr lang="en-US" dirty="0"/>
              <a:t>User/ Patient        vitals                   upload the regular  All the report      all the appointment </a:t>
            </a:r>
          </a:p>
          <a:p>
            <a:r>
              <a:rPr lang="en-US" dirty="0"/>
              <a:t>Details                                                test                            will be stored      details </a:t>
            </a:r>
          </a:p>
          <a:p>
            <a:endParaRPr lang="en-IN" dirty="0"/>
          </a:p>
        </p:txBody>
      </p:sp>
      <p:sp>
        <p:nvSpPr>
          <p:cNvPr id="21" name="TextBox 20">
            <a:extLst>
              <a:ext uri="{FF2B5EF4-FFF2-40B4-BE49-F238E27FC236}">
                <a16:creationId xmlns:a16="http://schemas.microsoft.com/office/drawing/2014/main" id="{598F95A4-800B-2FF7-71A1-A60E9457D5DC}"/>
              </a:ext>
            </a:extLst>
          </p:cNvPr>
          <p:cNvSpPr txBox="1"/>
          <p:nvPr/>
        </p:nvSpPr>
        <p:spPr>
          <a:xfrm>
            <a:off x="8649408" y="3179852"/>
            <a:ext cx="2889114" cy="646331"/>
          </a:xfrm>
          <a:prstGeom prst="rect">
            <a:avLst/>
          </a:prstGeom>
          <a:noFill/>
        </p:spPr>
        <p:txBody>
          <a:bodyPr wrap="square" rtlCol="0">
            <a:spAutoFit/>
          </a:bodyPr>
          <a:lstStyle/>
          <a:p>
            <a:r>
              <a:rPr lang="en-US" dirty="0"/>
              <a:t>Feature Appointments and scheduling </a:t>
            </a:r>
            <a:endParaRPr lang="en-IN" dirty="0"/>
          </a:p>
        </p:txBody>
      </p:sp>
      <p:sp>
        <p:nvSpPr>
          <p:cNvPr id="22" name="Arrow: Up 21">
            <a:extLst>
              <a:ext uri="{FF2B5EF4-FFF2-40B4-BE49-F238E27FC236}">
                <a16:creationId xmlns:a16="http://schemas.microsoft.com/office/drawing/2014/main" id="{9D6B5C39-FA2E-60F5-7D09-174B9B22A6FD}"/>
              </a:ext>
            </a:extLst>
          </p:cNvPr>
          <p:cNvSpPr/>
          <p:nvPr/>
        </p:nvSpPr>
        <p:spPr>
          <a:xfrm>
            <a:off x="797369" y="3454970"/>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Arrow: Up 22">
            <a:extLst>
              <a:ext uri="{FF2B5EF4-FFF2-40B4-BE49-F238E27FC236}">
                <a16:creationId xmlns:a16="http://schemas.microsoft.com/office/drawing/2014/main" id="{B1AD8316-A1D9-4EB9-DB84-B8B69956A4EE}"/>
              </a:ext>
            </a:extLst>
          </p:cNvPr>
          <p:cNvSpPr/>
          <p:nvPr/>
        </p:nvSpPr>
        <p:spPr>
          <a:xfrm>
            <a:off x="2130611" y="3445347"/>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Arrow: Up 23">
            <a:extLst>
              <a:ext uri="{FF2B5EF4-FFF2-40B4-BE49-F238E27FC236}">
                <a16:creationId xmlns:a16="http://schemas.microsoft.com/office/drawing/2014/main" id="{BDC141C7-FA4A-0783-DF44-82D483100D10}"/>
              </a:ext>
            </a:extLst>
          </p:cNvPr>
          <p:cNvSpPr/>
          <p:nvPr/>
        </p:nvSpPr>
        <p:spPr>
          <a:xfrm>
            <a:off x="3862670" y="3415145"/>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Arrow: Up 24">
            <a:extLst>
              <a:ext uri="{FF2B5EF4-FFF2-40B4-BE49-F238E27FC236}">
                <a16:creationId xmlns:a16="http://schemas.microsoft.com/office/drawing/2014/main" id="{4E89EACE-8E55-B601-C3DD-A383A943D033}"/>
              </a:ext>
            </a:extLst>
          </p:cNvPr>
          <p:cNvSpPr/>
          <p:nvPr/>
        </p:nvSpPr>
        <p:spPr>
          <a:xfrm>
            <a:off x="5694936" y="3454969"/>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Arrow: Up 25">
            <a:extLst>
              <a:ext uri="{FF2B5EF4-FFF2-40B4-BE49-F238E27FC236}">
                <a16:creationId xmlns:a16="http://schemas.microsoft.com/office/drawing/2014/main" id="{F8078371-C009-4490-7FFB-B8F6824803DA}"/>
              </a:ext>
            </a:extLst>
          </p:cNvPr>
          <p:cNvSpPr/>
          <p:nvPr/>
        </p:nvSpPr>
        <p:spPr>
          <a:xfrm>
            <a:off x="7007655" y="3429000"/>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Arrow: Up 26">
            <a:extLst>
              <a:ext uri="{FF2B5EF4-FFF2-40B4-BE49-F238E27FC236}">
                <a16:creationId xmlns:a16="http://schemas.microsoft.com/office/drawing/2014/main" id="{97F42465-3700-352B-8E44-F3C6B7EC4E11}"/>
              </a:ext>
            </a:extLst>
          </p:cNvPr>
          <p:cNvSpPr/>
          <p:nvPr/>
        </p:nvSpPr>
        <p:spPr>
          <a:xfrm rot="10800000">
            <a:off x="9585509" y="3745149"/>
            <a:ext cx="245926" cy="42402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54368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B0C00E4-6F2E-963A-DF3C-90E42064FBDA}"/>
              </a:ext>
            </a:extLst>
          </p:cNvPr>
          <p:cNvSpPr>
            <a:spLocks noGrp="1"/>
          </p:cNvSpPr>
          <p:nvPr/>
        </p:nvSpPr>
        <p:spPr>
          <a:xfrm>
            <a:off x="1310418" y="-17414"/>
            <a:ext cx="11473248" cy="9857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i="1" dirty="0">
                <a:solidFill>
                  <a:srgbClr val="205C96"/>
                </a:solidFill>
                <a:latin typeface="Century Schoolbook"/>
                <a:ea typeface="Cambria"/>
              </a:rPr>
              <a:t>FEASIBILITY AND VIABILITY</a:t>
            </a:r>
            <a:endParaRPr lang="en-US" dirty="0"/>
          </a:p>
        </p:txBody>
      </p:sp>
      <p:sp>
        <p:nvSpPr>
          <p:cNvPr id="6" name="Rectangle: Rounded Corners 5">
            <a:extLst>
              <a:ext uri="{FF2B5EF4-FFF2-40B4-BE49-F238E27FC236}">
                <a16:creationId xmlns:a16="http://schemas.microsoft.com/office/drawing/2014/main" id="{057C9936-EA04-4910-B7D8-50207FD06465}"/>
              </a:ext>
            </a:extLst>
          </p:cNvPr>
          <p:cNvSpPr/>
          <p:nvPr/>
        </p:nvSpPr>
        <p:spPr>
          <a:xfrm>
            <a:off x="91983" y="1156995"/>
            <a:ext cx="5110166" cy="5010539"/>
          </a:xfrm>
          <a:prstGeom prst="roundRect">
            <a:avLst/>
          </a:prstGeom>
          <a:solidFill>
            <a:schemeClr val="bg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extBox 12">
            <a:extLst>
              <a:ext uri="{FF2B5EF4-FFF2-40B4-BE49-F238E27FC236}">
                <a16:creationId xmlns:a16="http://schemas.microsoft.com/office/drawing/2014/main" id="{2386BD0C-6645-7C41-5740-D4773946E308}"/>
              </a:ext>
            </a:extLst>
          </p:cNvPr>
          <p:cNvSpPr txBox="1"/>
          <p:nvPr/>
        </p:nvSpPr>
        <p:spPr>
          <a:xfrm>
            <a:off x="263654" y="1369328"/>
            <a:ext cx="4766823" cy="458587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chemeClr val="accent2">
                    <a:lumMod val="76000"/>
                  </a:schemeClr>
                </a:solidFill>
              </a:rPr>
              <a:t>Potential Challenges:</a:t>
            </a:r>
            <a:endParaRPr lang="en-US" sz="2000" dirty="0"/>
          </a:p>
          <a:p>
            <a:pPr marL="342900" indent="-342900">
              <a:buFont typeface="Arial" panose="020B0604020202020204" pitchFamily="34" charset="0"/>
              <a:buChar char="•"/>
            </a:pPr>
            <a:r>
              <a:rPr lang="en-US" sz="1600" b="1" dirty="0"/>
              <a:t>1. Report Format Variation :- </a:t>
            </a:r>
            <a:r>
              <a:rPr lang="en-US" sz="1600" dirty="0"/>
              <a:t>Different hospitals and labs use unique layouts and terminology, making it difficult for the AI to extract information uniformly.</a:t>
            </a:r>
          </a:p>
          <a:p>
            <a:pPr marL="342900" indent="-342900">
              <a:buFont typeface="Arial" panose="020B0604020202020204" pitchFamily="34" charset="0"/>
              <a:buChar char="•"/>
            </a:pPr>
            <a:r>
              <a:rPr lang="en-US" sz="1600" b="1" dirty="0"/>
              <a:t>2. OCR Accuracy :- </a:t>
            </a:r>
            <a:r>
              <a:rPr lang="en-US" sz="1600" dirty="0"/>
              <a:t>Scanned or blurry reports may cause errors during text extraction, leading to incorrect data interpretation.</a:t>
            </a:r>
          </a:p>
          <a:p>
            <a:pPr marL="342900" indent="-342900">
              <a:buFont typeface="Arial" panose="020B0604020202020204" pitchFamily="34" charset="0"/>
              <a:buChar char="•"/>
            </a:pPr>
            <a:r>
              <a:rPr lang="en-US" sz="1600" b="1" dirty="0"/>
              <a:t>3. Medical Terminology Understanding :- </a:t>
            </a:r>
            <a:r>
              <a:rPr lang="en-US" sz="1600" dirty="0"/>
              <a:t>The system must correctly identify and interpret complex medical terms and abbreviations used in reports.</a:t>
            </a:r>
          </a:p>
          <a:p>
            <a:pPr marL="342900" indent="-342900">
              <a:buFont typeface="Arial" panose="020B0604020202020204" pitchFamily="34" charset="0"/>
              <a:buChar char="•"/>
            </a:pPr>
            <a:r>
              <a:rPr lang="en-US" sz="1600" b="1" dirty="0"/>
              <a:t>4. Data Privacy and Security :- </a:t>
            </a:r>
            <a:r>
              <a:rPr lang="en-US" sz="1600" dirty="0"/>
              <a:t>Patient health data is highly sensitive, requiring strict encryption and secure storage methods.</a:t>
            </a:r>
          </a:p>
          <a:p>
            <a:pPr marL="342900" indent="-342900">
              <a:buFont typeface="Arial" panose="020B0604020202020204" pitchFamily="34" charset="0"/>
              <a:buChar char="•"/>
            </a:pPr>
            <a:r>
              <a:rPr lang="en-US" sz="1600" b="1" dirty="0"/>
              <a:t>5. Explanation Reliability :- </a:t>
            </a:r>
            <a:r>
              <a:rPr lang="en-US" sz="1600" dirty="0"/>
              <a:t>AI-generated summaries must be accurate, easy to understand, and free from misleading medical interpretations.</a:t>
            </a:r>
          </a:p>
        </p:txBody>
      </p:sp>
      <p:sp>
        <p:nvSpPr>
          <p:cNvPr id="8" name="Rectangle: Rounded Corners 7">
            <a:extLst>
              <a:ext uri="{FF2B5EF4-FFF2-40B4-BE49-F238E27FC236}">
                <a16:creationId xmlns:a16="http://schemas.microsoft.com/office/drawing/2014/main" id="{8B2E6F03-BBAA-9713-21A9-9AF94E624080}"/>
              </a:ext>
            </a:extLst>
          </p:cNvPr>
          <p:cNvSpPr/>
          <p:nvPr/>
        </p:nvSpPr>
        <p:spPr>
          <a:xfrm>
            <a:off x="5334943" y="1064231"/>
            <a:ext cx="6632278" cy="4935894"/>
          </a:xfrm>
          <a:prstGeom prst="roundRect">
            <a:avLst/>
          </a:prstGeom>
          <a:solidFill>
            <a:schemeClr val="bg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TextBox 14">
            <a:extLst>
              <a:ext uri="{FF2B5EF4-FFF2-40B4-BE49-F238E27FC236}">
                <a16:creationId xmlns:a16="http://schemas.microsoft.com/office/drawing/2014/main" id="{757F760B-EE2B-96C7-BD39-45FB9911CE2D}"/>
              </a:ext>
            </a:extLst>
          </p:cNvPr>
          <p:cNvSpPr txBox="1"/>
          <p:nvPr/>
        </p:nvSpPr>
        <p:spPr>
          <a:xfrm>
            <a:off x="5588910" y="1208465"/>
            <a:ext cx="6511107" cy="440120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dirty="0">
                <a:solidFill>
                  <a:schemeClr val="accent2">
                    <a:lumMod val="76000"/>
                  </a:schemeClr>
                </a:solidFill>
              </a:rPr>
              <a:t>Strategies to Overcome :</a:t>
            </a:r>
          </a:p>
          <a:p>
            <a:endParaRPr lang="en-US" sz="1600" dirty="0"/>
          </a:p>
          <a:p>
            <a:pPr marL="285750" indent="-285750">
              <a:buFont typeface="Arial" panose="020B0604020202020204" pitchFamily="34" charset="0"/>
              <a:buChar char="•"/>
            </a:pPr>
            <a:r>
              <a:rPr lang="en-US" sz="1600" dirty="0"/>
              <a:t>Use pretrained models like LayoutLMv3 and a medical term dictionary to handle different report styles.</a:t>
            </a:r>
          </a:p>
          <a:p>
            <a:endParaRPr lang="en-US" sz="1600" dirty="0"/>
          </a:p>
          <a:p>
            <a:pPr marL="285750" indent="-285750">
              <a:buFont typeface="Arial" panose="020B0604020202020204" pitchFamily="34" charset="0"/>
              <a:buChar char="•"/>
            </a:pPr>
            <a:r>
              <a:rPr lang="en-US" sz="1600" dirty="0"/>
              <a:t>Apply Tesseract OCR with image cleanup (brightness, contrast) to improve text extraction.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Use BioClinicalBERT or similar models to recognize and interpret medical terms correctly.</a:t>
            </a:r>
          </a:p>
          <a:p>
            <a:pPr marL="285750" indent="-285750">
              <a:buFont typeface="Arial" panose="020B0604020202020204" pitchFamily="34" charset="0"/>
              <a:buChar char="•"/>
            </a:pPr>
            <a:endParaRPr lang="en-US" sz="1600" dirty="0"/>
          </a:p>
          <a:p>
            <a:endParaRPr lang="en-US" sz="1600" dirty="0"/>
          </a:p>
          <a:p>
            <a:pPr marL="285750" indent="-285750">
              <a:buFont typeface="Arial" panose="020B0604020202020204" pitchFamily="34" charset="0"/>
              <a:buChar char="•"/>
            </a:pPr>
            <a:r>
              <a:rPr lang="en-US" sz="1600" dirty="0"/>
              <a:t>Encrypt patient data using AES/Fernet and store it securely in SQLite or Firebase.</a:t>
            </a:r>
          </a:p>
          <a:p>
            <a:endParaRPr lang="en-US" sz="1600" dirty="0"/>
          </a:p>
          <a:p>
            <a:pPr marL="285750" indent="-285750">
              <a:buFont typeface="Arial" panose="020B0604020202020204" pitchFamily="34" charset="0"/>
              <a:buChar char="•"/>
            </a:pPr>
            <a:r>
              <a:rPr lang="en-US" sz="1600" dirty="0"/>
              <a:t>Combine verified rule-based data with AI summaries for accurate, easy-to-understand explanations.</a:t>
            </a:r>
          </a:p>
        </p:txBody>
      </p:sp>
      <p:sp>
        <p:nvSpPr>
          <p:cNvPr id="2" name="Arrow: Right 1">
            <a:extLst>
              <a:ext uri="{FF2B5EF4-FFF2-40B4-BE49-F238E27FC236}">
                <a16:creationId xmlns:a16="http://schemas.microsoft.com/office/drawing/2014/main" id="{A72D0223-4B6F-141A-078D-1695B6DF1A1B}"/>
              </a:ext>
            </a:extLst>
          </p:cNvPr>
          <p:cNvSpPr/>
          <p:nvPr/>
        </p:nvSpPr>
        <p:spPr>
          <a:xfrm>
            <a:off x="5041029" y="5169156"/>
            <a:ext cx="587829" cy="19594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Arrow: Right 2">
            <a:extLst>
              <a:ext uri="{FF2B5EF4-FFF2-40B4-BE49-F238E27FC236}">
                <a16:creationId xmlns:a16="http://schemas.microsoft.com/office/drawing/2014/main" id="{6474F071-09E4-092D-B19E-E853E36A032B}"/>
              </a:ext>
            </a:extLst>
          </p:cNvPr>
          <p:cNvSpPr/>
          <p:nvPr/>
        </p:nvSpPr>
        <p:spPr>
          <a:xfrm>
            <a:off x="5041030" y="4333228"/>
            <a:ext cx="587829" cy="19594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0B6CBF5C-433A-F2CC-4471-7B10C3D16E57}"/>
              </a:ext>
            </a:extLst>
          </p:cNvPr>
          <p:cNvSpPr/>
          <p:nvPr/>
        </p:nvSpPr>
        <p:spPr>
          <a:xfrm>
            <a:off x="5034810" y="3434207"/>
            <a:ext cx="587829" cy="19594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Arrow: Right 9">
            <a:extLst>
              <a:ext uri="{FF2B5EF4-FFF2-40B4-BE49-F238E27FC236}">
                <a16:creationId xmlns:a16="http://schemas.microsoft.com/office/drawing/2014/main" id="{422AF3B2-231A-4987-A53B-BC321C714F5E}"/>
              </a:ext>
            </a:extLst>
          </p:cNvPr>
          <p:cNvSpPr/>
          <p:nvPr/>
        </p:nvSpPr>
        <p:spPr>
          <a:xfrm>
            <a:off x="5030477" y="2711259"/>
            <a:ext cx="587829" cy="19594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row: Right 10">
            <a:extLst>
              <a:ext uri="{FF2B5EF4-FFF2-40B4-BE49-F238E27FC236}">
                <a16:creationId xmlns:a16="http://schemas.microsoft.com/office/drawing/2014/main" id="{A34D94A6-65FB-045F-F92D-45A2E97AE11C}"/>
              </a:ext>
            </a:extLst>
          </p:cNvPr>
          <p:cNvSpPr/>
          <p:nvPr/>
        </p:nvSpPr>
        <p:spPr>
          <a:xfrm>
            <a:off x="5001081" y="1894953"/>
            <a:ext cx="587829" cy="19594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31882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5E851C1-175F-D29A-5276-04C2D1870B22}"/>
              </a:ext>
            </a:extLst>
          </p:cNvPr>
          <p:cNvSpPr txBox="1">
            <a:spLocks/>
          </p:cNvSpPr>
          <p:nvPr/>
        </p:nvSpPr>
        <p:spPr>
          <a:xfrm>
            <a:off x="4294584" y="248389"/>
            <a:ext cx="3788794" cy="719997"/>
          </a:xfrm>
          <a:prstGeom prst="rect">
            <a:avLst/>
          </a:prstGeom>
        </p:spPr>
        <p:txBody>
          <a:bodyPr>
            <a:normAutofit fontScale="82500" lnSpcReduction="20000"/>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br>
              <a:rPr lang="en-US" sz="3600" b="1">
                <a:latin typeface="Times New Roman" panose="02020603050405020304" pitchFamily="18" charset="0"/>
                <a:ea typeface="ＭＳ Ｐゴシック" pitchFamily="1" charset="-128"/>
                <a:cs typeface="Times New Roman" panose="02020603050405020304" pitchFamily="18" charset="0"/>
              </a:rPr>
            </a:br>
            <a:r>
              <a:rPr lang="en-US" sz="3200" b="1">
                <a:solidFill>
                  <a:srgbClr val="7030A0"/>
                </a:solidFill>
                <a:latin typeface="Cambria"/>
                <a:ea typeface="Calibri"/>
                <a:cs typeface="Calibri"/>
              </a:rPr>
              <a:t>Impact And Benefits</a:t>
            </a:r>
            <a:endParaRPr lang="en-US" sz="3200" b="1" dirty="0">
              <a:solidFill>
                <a:srgbClr val="7030A0"/>
              </a:solidFill>
              <a:latin typeface="Cambria"/>
              <a:ea typeface="ＭＳ Ｐゴシック" pitchFamily="1" charset="-128"/>
              <a:cs typeface="Times New Roman" panose="02020603050405020304" pitchFamily="18" charset="0"/>
            </a:endParaRPr>
          </a:p>
        </p:txBody>
      </p:sp>
      <p:sp>
        <p:nvSpPr>
          <p:cNvPr id="10" name="TextBox 8">
            <a:extLst>
              <a:ext uri="{FF2B5EF4-FFF2-40B4-BE49-F238E27FC236}">
                <a16:creationId xmlns:a16="http://schemas.microsoft.com/office/drawing/2014/main" id="{0EA418E5-BF19-786F-1012-70A9237C4CB3}"/>
              </a:ext>
            </a:extLst>
          </p:cNvPr>
          <p:cNvSpPr txBox="1"/>
          <p:nvPr/>
        </p:nvSpPr>
        <p:spPr>
          <a:xfrm>
            <a:off x="735838" y="2041239"/>
            <a:ext cx="7117492" cy="412420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000" b="1" dirty="0"/>
              <a:t>Improved Patient Understanding:</a:t>
            </a:r>
          </a:p>
          <a:p>
            <a:r>
              <a:rPr lang="en-US" dirty="0"/>
              <a:t>      Helps patients easily understand complex medical reports in simple</a:t>
            </a:r>
          </a:p>
          <a:p>
            <a:r>
              <a:rPr lang="en-US" dirty="0"/>
              <a:t>      language.</a:t>
            </a:r>
          </a:p>
          <a:p>
            <a:pPr marL="342900" indent="-342900">
              <a:buFont typeface="Arial" panose="020B0604020202020204" pitchFamily="34" charset="0"/>
              <a:buChar char="•"/>
            </a:pPr>
            <a:r>
              <a:rPr lang="en-US" sz="2000" b="1" dirty="0"/>
              <a:t>Better Health Awareness:</a:t>
            </a:r>
          </a:p>
          <a:p>
            <a:r>
              <a:rPr lang="en-US" dirty="0"/>
              <a:t>      Encourages users to track and monitor their health regularly through</a:t>
            </a:r>
          </a:p>
          <a:p>
            <a:r>
              <a:rPr lang="en-US" dirty="0"/>
              <a:t>      clear summaries.</a:t>
            </a:r>
          </a:p>
          <a:p>
            <a:pPr marL="342900" indent="-342900">
              <a:buFont typeface="Arial" panose="020B0604020202020204" pitchFamily="34" charset="0"/>
              <a:buChar char="•"/>
            </a:pPr>
            <a:r>
              <a:rPr lang="en-US" sz="2000" b="1" dirty="0"/>
              <a:t>Time-Saving for Doctors : </a:t>
            </a:r>
          </a:p>
          <a:p>
            <a:r>
              <a:rPr lang="en-US" dirty="0"/>
              <a:t>      Reduces time spent explaining reports, allowing doctors to focus on</a:t>
            </a:r>
          </a:p>
          <a:p>
            <a:r>
              <a:rPr lang="en-US" dirty="0"/>
              <a:t>      treatment.</a:t>
            </a:r>
          </a:p>
          <a:p>
            <a:pPr marL="342900" indent="-342900">
              <a:buFont typeface="Arial" panose="020B0604020202020204" pitchFamily="34" charset="0"/>
              <a:buChar char="•"/>
            </a:pPr>
            <a:r>
              <a:rPr lang="en-US" sz="2000" b="1" dirty="0"/>
              <a:t>Consistent Health Tracking :</a:t>
            </a:r>
          </a:p>
          <a:p>
            <a:r>
              <a:rPr lang="en-US" dirty="0"/>
              <a:t>      Compares old and new reports to show progress and trends clearly.</a:t>
            </a:r>
          </a:p>
          <a:p>
            <a:pPr marL="342900" indent="-342900">
              <a:buFont typeface="Arial" panose="020B0604020202020204" pitchFamily="34" charset="0"/>
              <a:buChar char="•"/>
            </a:pPr>
            <a:r>
              <a:rPr lang="en-US" sz="2000" b="1" dirty="0"/>
              <a:t>Accessible Healthcare :</a:t>
            </a:r>
          </a:p>
          <a:p>
            <a:r>
              <a:rPr lang="en-US" dirty="0"/>
              <a:t>      Makes medical information understandable for all age groups,</a:t>
            </a:r>
          </a:p>
          <a:p>
            <a:r>
              <a:rPr lang="en-US" dirty="0"/>
              <a:t>      improving overall health literacy</a:t>
            </a:r>
            <a:endParaRPr lang="en-IN" dirty="0"/>
          </a:p>
        </p:txBody>
      </p:sp>
      <p:sp>
        <p:nvSpPr>
          <p:cNvPr id="11" name="Rectangle: Rounded Corners 10">
            <a:extLst>
              <a:ext uri="{FF2B5EF4-FFF2-40B4-BE49-F238E27FC236}">
                <a16:creationId xmlns:a16="http://schemas.microsoft.com/office/drawing/2014/main" id="{50DA080B-55C0-B26A-9672-FD4FD3E26737}"/>
              </a:ext>
            </a:extLst>
          </p:cNvPr>
          <p:cNvSpPr/>
          <p:nvPr/>
        </p:nvSpPr>
        <p:spPr>
          <a:xfrm>
            <a:off x="628442" y="1623631"/>
            <a:ext cx="7644713" cy="4985980"/>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Tree>
    <p:extLst>
      <p:ext uri="{BB962C8B-B14F-4D97-AF65-F5344CB8AC3E}">
        <p14:creationId xmlns:p14="http://schemas.microsoft.com/office/powerpoint/2010/main" val="3163098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BC75863-4448-1291-51BD-83D620B5585E}"/>
              </a:ext>
            </a:extLst>
          </p:cNvPr>
          <p:cNvSpPr>
            <a:spLocks noGrp="1"/>
          </p:cNvSpPr>
          <p:nvPr/>
        </p:nvSpPr>
        <p:spPr>
          <a:xfrm>
            <a:off x="1822747" y="39546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0"/>
              </a:spcBef>
            </a:pPr>
            <a:r>
              <a:rPr lang="en-US" sz="3600" b="1" i="1" dirty="0">
                <a:solidFill>
                  <a:srgbClr val="205C96"/>
                </a:solidFill>
                <a:latin typeface="Century Schoolbook"/>
              </a:rPr>
              <a:t>RESEARCH AND REFERENCES</a:t>
            </a:r>
          </a:p>
          <a:p>
            <a:pPr>
              <a:lnSpc>
                <a:spcPct val="100000"/>
              </a:lnSpc>
              <a:spcBef>
                <a:spcPts val="0"/>
              </a:spcBef>
            </a:pPr>
            <a:endParaRPr lang="en-US" sz="1800" dirty="0">
              <a:latin typeface="Aptos"/>
            </a:endParaRPr>
          </a:p>
          <a:p>
            <a:endParaRPr lang="en-US" dirty="0"/>
          </a:p>
        </p:txBody>
      </p:sp>
      <p:sp>
        <p:nvSpPr>
          <p:cNvPr id="5" name="Content Placeholder 2">
            <a:extLst>
              <a:ext uri="{FF2B5EF4-FFF2-40B4-BE49-F238E27FC236}">
                <a16:creationId xmlns:a16="http://schemas.microsoft.com/office/drawing/2014/main" id="{39166B41-44F6-E1E8-0969-ABFAC3007200}"/>
              </a:ext>
            </a:extLst>
          </p:cNvPr>
          <p:cNvSpPr>
            <a:spLocks noGrp="1"/>
          </p:cNvSpPr>
          <p:nvPr/>
        </p:nvSpPr>
        <p:spPr>
          <a:xfrm>
            <a:off x="-991273" y="2009244"/>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endParaRPr lang="en-US" sz="3600" b="1" i="1" dirty="0">
              <a:solidFill>
                <a:srgbClr val="205C96"/>
              </a:solidFill>
              <a:latin typeface="Century Schoolbook"/>
            </a:endParaRPr>
          </a:p>
          <a:p>
            <a:pPr>
              <a:lnSpc>
                <a:spcPct val="100000"/>
              </a:lnSpc>
              <a:spcBef>
                <a:spcPts val="0"/>
              </a:spcBef>
            </a:pPr>
            <a:endParaRPr lang="en-US" sz="1800" dirty="0"/>
          </a:p>
          <a:p>
            <a:endParaRPr lang="en-US" dirty="0"/>
          </a:p>
        </p:txBody>
      </p:sp>
      <p:sp>
        <p:nvSpPr>
          <p:cNvPr id="7" name="Rectangle: Rounded Corners 6">
            <a:extLst>
              <a:ext uri="{FF2B5EF4-FFF2-40B4-BE49-F238E27FC236}">
                <a16:creationId xmlns:a16="http://schemas.microsoft.com/office/drawing/2014/main" id="{C74FED31-5C54-2831-D225-7886295E2835}"/>
              </a:ext>
            </a:extLst>
          </p:cNvPr>
          <p:cNvSpPr/>
          <p:nvPr/>
        </p:nvSpPr>
        <p:spPr>
          <a:xfrm>
            <a:off x="253574" y="1674594"/>
            <a:ext cx="6756717" cy="4829170"/>
          </a:xfrm>
          <a:prstGeom prst="roundRect">
            <a:avLst/>
          </a:prstGeom>
          <a:solidFill>
            <a:schemeClr val="bg1"/>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TextBox 11">
            <a:extLst>
              <a:ext uri="{FF2B5EF4-FFF2-40B4-BE49-F238E27FC236}">
                <a16:creationId xmlns:a16="http://schemas.microsoft.com/office/drawing/2014/main" id="{1E6EAB8A-37D8-7B67-36FE-DB43D5930345}"/>
              </a:ext>
            </a:extLst>
          </p:cNvPr>
          <p:cNvSpPr txBox="1"/>
          <p:nvPr/>
        </p:nvSpPr>
        <p:spPr>
          <a:xfrm>
            <a:off x="354492" y="2180681"/>
            <a:ext cx="6406231" cy="393954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dirty="0"/>
              <a:t>Studies show over 65% of patients struggle to read lab reports. Visual aids, plain-language summaries, and trend comparisons greatly improve patient understanding and engagement. Digital health record systems like </a:t>
            </a:r>
            <a:r>
              <a:rPr lang="en-IN" b="1" dirty="0"/>
              <a:t>ABDM</a:t>
            </a:r>
            <a:r>
              <a:rPr lang="en-IN" dirty="0"/>
              <a:t> (Ayushman Bharat Digital Mission) in India support secure data sharing, while </a:t>
            </a:r>
            <a:r>
              <a:rPr lang="en-IN" b="1" dirty="0"/>
              <a:t>DPDP Act 2023</a:t>
            </a:r>
            <a:r>
              <a:rPr lang="en-IN" dirty="0"/>
              <a:t> ensures privacy and consent.</a:t>
            </a:r>
          </a:p>
          <a:p>
            <a:r>
              <a:rPr lang="en-IN" b="1" dirty="0"/>
              <a:t>Key Features:</a:t>
            </a:r>
            <a:endParaRPr lang="en-IN" dirty="0"/>
          </a:p>
          <a:p>
            <a:pPr marL="285750" indent="-285750">
              <a:buFont typeface="Arial" panose="020B0604020202020204" pitchFamily="34" charset="0"/>
              <a:buChar char="•"/>
            </a:pPr>
            <a:r>
              <a:rPr lang="en-IN" dirty="0"/>
              <a:t>AI explanation of test reports 🧠</a:t>
            </a:r>
          </a:p>
          <a:p>
            <a:pPr marL="285750" indent="-285750">
              <a:buFont typeface="Arial" panose="020B0604020202020204" pitchFamily="34" charset="0"/>
              <a:buChar char="•"/>
            </a:pPr>
            <a:r>
              <a:rPr lang="en-IN" dirty="0"/>
              <a:t>Health trend charts 📊</a:t>
            </a:r>
          </a:p>
          <a:p>
            <a:pPr marL="285750" indent="-285750">
              <a:buFont typeface="Arial" panose="020B0604020202020204" pitchFamily="34" charset="0"/>
              <a:buChar char="•"/>
            </a:pPr>
            <a:r>
              <a:rPr lang="en-IN" dirty="0"/>
              <a:t>Smart alerts &amp; reminders 🔔</a:t>
            </a:r>
          </a:p>
          <a:p>
            <a:pPr marL="285750" indent="-285750">
              <a:buFont typeface="Arial" panose="020B0604020202020204" pitchFamily="34" charset="0"/>
              <a:buChar char="•"/>
            </a:pPr>
            <a:r>
              <a:rPr lang="en-IN" dirty="0"/>
              <a:t>Doctor dashboard 👨‍⚕️</a:t>
            </a:r>
          </a:p>
          <a:p>
            <a:pPr marL="285750" indent="-285750">
              <a:buFont typeface="Arial" panose="020B0604020202020204" pitchFamily="34" charset="0"/>
              <a:buChar char="•"/>
            </a:pPr>
            <a:r>
              <a:rPr lang="en-IN" dirty="0"/>
              <a:t>Digital health locker (ABHA-linked) 📁</a:t>
            </a:r>
          </a:p>
          <a:p>
            <a:pPr marL="285750" indent="-285750">
              <a:buFont typeface="Arial" panose="020B0604020202020204" pitchFamily="34" charset="0"/>
              <a:buChar char="•"/>
            </a:pPr>
            <a:r>
              <a:rPr lang="en-IN" dirty="0"/>
              <a:t>Multilingual &amp; voice support 🗣️</a:t>
            </a:r>
          </a:p>
          <a:p>
            <a:endParaRPr lang="en-US" sz="1600" dirty="0"/>
          </a:p>
        </p:txBody>
      </p:sp>
      <p:sp>
        <p:nvSpPr>
          <p:cNvPr id="9" name="TextBox 12">
            <a:extLst>
              <a:ext uri="{FF2B5EF4-FFF2-40B4-BE49-F238E27FC236}">
                <a16:creationId xmlns:a16="http://schemas.microsoft.com/office/drawing/2014/main" id="{263F49C7-F4EC-AF1F-6FA2-2425E16E4AD6}"/>
              </a:ext>
            </a:extLst>
          </p:cNvPr>
          <p:cNvSpPr txBox="1"/>
          <p:nvPr/>
        </p:nvSpPr>
        <p:spPr>
          <a:xfrm>
            <a:off x="293841" y="1674381"/>
            <a:ext cx="5441624"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a:t>
            </a:r>
            <a:r>
              <a:rPr lang="en-US" sz="2800" b="1" dirty="0">
                <a:latin typeface="Cambria"/>
                <a:ea typeface="Cambria"/>
              </a:rPr>
              <a:t>         RESEARCH</a:t>
            </a:r>
          </a:p>
        </p:txBody>
      </p:sp>
      <p:sp>
        <p:nvSpPr>
          <p:cNvPr id="10" name="Rectangle: Rounded Corners 9">
            <a:extLst>
              <a:ext uri="{FF2B5EF4-FFF2-40B4-BE49-F238E27FC236}">
                <a16:creationId xmlns:a16="http://schemas.microsoft.com/office/drawing/2014/main" id="{AB1104DB-0207-E2A0-96F3-41C417CEF4AD}"/>
              </a:ext>
            </a:extLst>
          </p:cNvPr>
          <p:cNvSpPr/>
          <p:nvPr/>
        </p:nvSpPr>
        <p:spPr>
          <a:xfrm>
            <a:off x="7343136" y="1516522"/>
            <a:ext cx="4262045" cy="4829169"/>
          </a:xfrm>
          <a:prstGeom prst="roundRect">
            <a:avLst/>
          </a:prstGeom>
          <a:solidFill>
            <a:schemeClr val="bg1"/>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 name="TextBox 16">
            <a:extLst>
              <a:ext uri="{FF2B5EF4-FFF2-40B4-BE49-F238E27FC236}">
                <a16:creationId xmlns:a16="http://schemas.microsoft.com/office/drawing/2014/main" id="{C1A04A4F-D438-A789-453B-73C40F343B28}"/>
              </a:ext>
            </a:extLst>
          </p:cNvPr>
          <p:cNvSpPr txBox="1"/>
          <p:nvPr/>
        </p:nvSpPr>
        <p:spPr>
          <a:xfrm>
            <a:off x="7544391" y="1603528"/>
            <a:ext cx="4040406"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b="1" i="1" dirty="0">
                <a:latin typeface="Cambria"/>
                <a:ea typeface="Cambria"/>
              </a:rPr>
              <a:t>       REFERENCES</a:t>
            </a:r>
            <a:endParaRPr lang="en-US" sz="2800" dirty="0">
              <a:latin typeface="Cambria"/>
              <a:ea typeface="Cambria"/>
            </a:endParaRPr>
          </a:p>
        </p:txBody>
      </p:sp>
      <p:sp>
        <p:nvSpPr>
          <p:cNvPr id="12" name="TextBox 17">
            <a:extLst>
              <a:ext uri="{FF2B5EF4-FFF2-40B4-BE49-F238E27FC236}">
                <a16:creationId xmlns:a16="http://schemas.microsoft.com/office/drawing/2014/main" id="{D496C0B4-589C-D50C-E568-C92771785F8E}"/>
              </a:ext>
            </a:extLst>
          </p:cNvPr>
          <p:cNvSpPr txBox="1"/>
          <p:nvPr/>
        </p:nvSpPr>
        <p:spPr>
          <a:xfrm>
            <a:off x="11271238" y="1285547"/>
            <a:ext cx="2743199" cy="36576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a:p>
        </p:txBody>
      </p:sp>
      <p:sp>
        <p:nvSpPr>
          <p:cNvPr id="13" name="TextBox 19">
            <a:extLst>
              <a:ext uri="{FF2B5EF4-FFF2-40B4-BE49-F238E27FC236}">
                <a16:creationId xmlns:a16="http://schemas.microsoft.com/office/drawing/2014/main" id="{4E15717A-AF3F-5DA0-879A-C105B45E2F73}"/>
              </a:ext>
            </a:extLst>
          </p:cNvPr>
          <p:cNvSpPr txBox="1"/>
          <p:nvPr/>
        </p:nvSpPr>
        <p:spPr>
          <a:xfrm>
            <a:off x="7264488" y="2197601"/>
            <a:ext cx="4419340" cy="39703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AutoNum type="arabicParenR"/>
            </a:pPr>
            <a:r>
              <a:rPr lang="en-IN" dirty="0"/>
              <a:t>India: Ayushman Bharat Digital Mission (ABDM) / ABHA. National health identifier and digital records initiative.</a:t>
            </a:r>
            <a:br>
              <a:rPr lang="en-IN" dirty="0"/>
            </a:br>
            <a:r>
              <a:rPr lang="en-IN" dirty="0"/>
              <a:t>— official site describing ABHA and record sharing. </a:t>
            </a:r>
            <a:r>
              <a:rPr lang="en-IN" dirty="0">
                <a:hlinkClick r:id="rId2"/>
              </a:rPr>
              <a:t>Ayushman Bharat Digital Mission+1</a:t>
            </a:r>
            <a:br>
              <a:rPr lang="en-IN" dirty="0"/>
            </a:br>
            <a:r>
              <a:rPr lang="en-IN" dirty="0"/>
              <a:t>— assessment of ABDM progress &amp; architecture. </a:t>
            </a:r>
            <a:r>
              <a:rPr lang="en-IN" dirty="0">
                <a:hlinkClick r:id="rId3"/>
              </a:rPr>
              <a:t>Taylor &amp; Francis Online+1</a:t>
            </a:r>
            <a:br>
              <a:rPr lang="en-IN" dirty="0"/>
            </a:br>
            <a:r>
              <a:rPr lang="en-IN" dirty="0"/>
              <a:t>— linked health records and benefits of interoperable health ecosystem. </a:t>
            </a:r>
            <a:r>
              <a:rPr lang="en-IN" dirty="0">
                <a:hlinkClick r:id="rId4"/>
              </a:rPr>
              <a:t>PMC+1</a:t>
            </a:r>
            <a:endParaRPr lang="en-IN" dirty="0"/>
          </a:p>
          <a:p>
            <a:pPr marL="342900" indent="-342900">
              <a:buAutoNum type="arabicParenR"/>
            </a:pPr>
            <a:r>
              <a:rPr lang="en-US" dirty="0"/>
              <a:t>Boyd JL, et al. </a:t>
            </a:r>
            <a:r>
              <a:rPr lang="en-US" i="1" dirty="0"/>
              <a:t>Communicating and Understanding Laboratory Test Results</a:t>
            </a:r>
            <a:r>
              <a:rPr lang="en-US" dirty="0"/>
              <a:t>. Lab Medicine, 2007.</a:t>
            </a:r>
          </a:p>
          <a:p>
            <a:endParaRPr lang="en-US" dirty="0"/>
          </a:p>
        </p:txBody>
      </p:sp>
    </p:spTree>
    <p:extLst>
      <p:ext uri="{BB962C8B-B14F-4D97-AF65-F5344CB8AC3E}">
        <p14:creationId xmlns:p14="http://schemas.microsoft.com/office/powerpoint/2010/main" val="37039718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1358</TotalTime>
  <Words>865</Words>
  <Application>Microsoft Office PowerPoint</Application>
  <PresentationFormat>Widescreen</PresentationFormat>
  <Paragraphs>92</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Aptos</vt:lpstr>
      <vt:lpstr>Arial</vt:lpstr>
      <vt:lpstr>Calibri</vt:lpstr>
      <vt:lpstr>Calibri Light</vt:lpstr>
      <vt:lpstr>Cambria</vt:lpstr>
      <vt:lpstr>Century Gothic</vt:lpstr>
      <vt:lpstr>Century Schoolbook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mudika dheeraj</dc:creator>
  <cp:lastModifiedBy>mudika dheeraj</cp:lastModifiedBy>
  <cp:revision>3</cp:revision>
  <dcterms:created xsi:type="dcterms:W3CDTF">2025-10-11T06:24:12Z</dcterms:created>
  <dcterms:modified xsi:type="dcterms:W3CDTF">2025-10-12T07:36:02Z</dcterms:modified>
</cp:coreProperties>
</file>